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691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имур W" userId="ccecebeb5117e078" providerId="LiveId" clId="{1379AF3D-B692-4E68-A082-8501D2B628B8}"/>
    <pc:docChg chg="custSel modSld">
      <pc:chgData name="Тимур W" userId="ccecebeb5117e078" providerId="LiveId" clId="{1379AF3D-B692-4E68-A082-8501D2B628B8}" dt="2026-09-29T15:28:07.761" v="194" actId="1076"/>
      <pc:docMkLst>
        <pc:docMk/>
      </pc:docMkLst>
      <pc:sldChg chg="modSp mod">
        <pc:chgData name="Тимур W" userId="ccecebeb5117e078" providerId="LiveId" clId="{1379AF3D-B692-4E68-A082-8501D2B628B8}" dt="2026-09-29T15:27:20.030" v="155" actId="20577"/>
        <pc:sldMkLst>
          <pc:docMk/>
          <pc:sldMk cId="1436937792" sldId="256"/>
        </pc:sldMkLst>
        <pc:spChg chg="mod">
          <ac:chgData name="Тимур W" userId="ccecebeb5117e078" providerId="LiveId" clId="{1379AF3D-B692-4E68-A082-8501D2B628B8}" dt="2026-09-29T15:27:20.030" v="155" actId="20577"/>
          <ac:spMkLst>
            <pc:docMk/>
            <pc:sldMk cId="1436937792" sldId="256"/>
            <ac:spMk id="7" creationId="{E251A202-F4D6-47C4-A162-876111D5FDA1}"/>
          </ac:spMkLst>
        </pc:spChg>
        <pc:spChg chg="mod">
          <ac:chgData name="Тимур W" userId="ccecebeb5117e078" providerId="LiveId" clId="{1379AF3D-B692-4E68-A082-8501D2B628B8}" dt="2026-09-29T15:27:12.672" v="148" actId="20577"/>
          <ac:spMkLst>
            <pc:docMk/>
            <pc:sldMk cId="1436937792" sldId="256"/>
            <ac:spMk id="10" creationId="{54AA1732-2A1D-4C6D-8D6A-322B27F3E9B4}"/>
          </ac:spMkLst>
        </pc:spChg>
      </pc:sldChg>
      <pc:sldChg chg="modSp mod">
        <pc:chgData name="Тимур W" userId="ccecebeb5117e078" providerId="LiveId" clId="{1379AF3D-B692-4E68-A082-8501D2B628B8}" dt="2026-09-29T15:23:58.017" v="6" actId="20577"/>
        <pc:sldMkLst>
          <pc:docMk/>
          <pc:sldMk cId="1084197664" sldId="269"/>
        </pc:sldMkLst>
        <pc:spChg chg="mod">
          <ac:chgData name="Тимур W" userId="ccecebeb5117e078" providerId="LiveId" clId="{1379AF3D-B692-4E68-A082-8501D2B628B8}" dt="2026-09-29T15:23:58.017" v="6" actId="20577"/>
          <ac:spMkLst>
            <pc:docMk/>
            <pc:sldMk cId="1084197664" sldId="269"/>
            <ac:spMk id="40" creationId="{380314B7-F30B-497B-B418-724DDB2B09EC}"/>
          </ac:spMkLst>
        </pc:spChg>
      </pc:sldChg>
      <pc:sldChg chg="delSp modSp mod">
        <pc:chgData name="Тимур W" userId="ccecebeb5117e078" providerId="LiveId" clId="{1379AF3D-B692-4E68-A082-8501D2B628B8}" dt="2026-09-29T15:28:07.761" v="194" actId="1076"/>
        <pc:sldMkLst>
          <pc:docMk/>
          <pc:sldMk cId="1292870356" sldId="270"/>
        </pc:sldMkLst>
        <pc:spChg chg="mod">
          <ac:chgData name="Тимур W" userId="ccecebeb5117e078" providerId="LiveId" clId="{1379AF3D-B692-4E68-A082-8501D2B628B8}" dt="2026-09-29T15:28:07.761" v="194" actId="1076"/>
          <ac:spMkLst>
            <pc:docMk/>
            <pc:sldMk cId="1292870356" sldId="270"/>
            <ac:spMk id="8" creationId="{3D7BA6CE-FEAA-4816-92EC-2DE452CC4388}"/>
          </ac:spMkLst>
        </pc:spChg>
        <pc:spChg chg="mod">
          <ac:chgData name="Тимур W" userId="ccecebeb5117e078" providerId="LiveId" clId="{1379AF3D-B692-4E68-A082-8501D2B628B8}" dt="2026-09-29T15:27:50.786" v="164" actId="20577"/>
          <ac:spMkLst>
            <pc:docMk/>
            <pc:sldMk cId="1292870356" sldId="270"/>
            <ac:spMk id="9" creationId="{60A061CF-D6CD-4A2B-B5CC-0DB557AA3C3F}"/>
          </ac:spMkLst>
        </pc:spChg>
        <pc:spChg chg="del mod">
          <ac:chgData name="Тимур W" userId="ccecebeb5117e078" providerId="LiveId" clId="{1379AF3D-B692-4E68-A082-8501D2B628B8}" dt="2026-09-29T15:24:16.758" v="8" actId="478"/>
          <ac:spMkLst>
            <pc:docMk/>
            <pc:sldMk cId="1292870356" sldId="270"/>
            <ac:spMk id="11" creationId="{E768170F-F5BF-4DDA-90BC-DDF7816F0EEC}"/>
          </ac:spMkLst>
        </pc:spChg>
        <pc:spChg chg="del mod">
          <ac:chgData name="Тимур W" userId="ccecebeb5117e078" providerId="LiveId" clId="{1379AF3D-B692-4E68-A082-8501D2B628B8}" dt="2026-09-29T15:27:47.213" v="157" actId="478"/>
          <ac:spMkLst>
            <pc:docMk/>
            <pc:sldMk cId="1292870356" sldId="270"/>
            <ac:spMk id="12" creationId="{CA9392EF-DA36-4757-AAF9-124DA339E86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Овал 19">
            <a:extLst>
              <a:ext uri="{FF2B5EF4-FFF2-40B4-BE49-F238E27FC236}">
                <a16:creationId xmlns:a16="http://schemas.microsoft.com/office/drawing/2014/main" id="{8ED77195-3EDE-4DD9-ABA1-35F1F237C806}"/>
              </a:ext>
            </a:extLst>
          </p:cNvPr>
          <p:cNvSpPr>
            <a:spLocks noGrp="1"/>
          </p:cNvSpPr>
          <p:nvPr/>
        </p:nvSpPr>
        <p:spPr>
          <a:xfrm>
            <a:off x="7334250" y="361950"/>
            <a:ext cx="4476750" cy="5715000"/>
          </a:xfrm>
          <a:prstGeom prst="ellipse">
            <a:avLst/>
          </a:prstGeom>
          <a:solidFill>
            <a:srgbClr val="1C4B9A"/>
          </a:solidFill>
          <a:ln w="0">
            <a:noFill/>
            <a:prstDash val="solid"/>
          </a:ln>
        </p:spPr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3A22007-33D6-4FD8-8AC7-7630147BCFE4}"/>
              </a:ext>
            </a:extLst>
          </p:cNvPr>
          <p:cNvSpPr>
            <a:spLocks noGrp="1"/>
          </p:cNvSpPr>
          <p:nvPr/>
        </p:nvSpPr>
        <p:spPr>
          <a:xfrm>
            <a:off x="9382125" y="857250"/>
            <a:ext cx="2476500" cy="2476500"/>
          </a:xfrm>
          <a:prstGeom prst="ellipse">
            <a:avLst/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183D562C-AE23-4DD5-B12A-FEA5EDB9FD63}"/>
              </a:ext>
            </a:extLst>
          </p:cNvPr>
          <p:cNvSpPr>
            <a:spLocks noGrp="1"/>
          </p:cNvSpPr>
          <p:nvPr/>
        </p:nvSpPr>
        <p:spPr>
          <a:xfrm>
            <a:off x="7810500" y="3857625"/>
            <a:ext cx="4095750" cy="2714625"/>
          </a:xfrm>
          <a:prstGeom prst="ellipse">
            <a:avLst/>
          </a:prstGeom>
          <a:solidFill>
            <a:srgbClr val="2E69C4"/>
          </a:solidFill>
          <a:ln w="0">
            <a:noFill/>
            <a:prstDash val="solid"/>
          </a:ln>
        </p:spPr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860F4E09-CB4E-486E-8AC3-2872C780B44B}"/>
              </a:ext>
            </a:extLst>
          </p:cNvPr>
          <p:cNvSpPr>
            <a:spLocks noGrp="1"/>
          </p:cNvSpPr>
          <p:nvPr/>
        </p:nvSpPr>
        <p:spPr>
          <a:xfrm>
            <a:off x="9525000" y="2286000"/>
            <a:ext cx="1762125" cy="1762125"/>
          </a:xfrm>
          <a:prstGeom prst="ellipse">
            <a:avLst/>
          </a:prstGeom>
          <a:solidFill>
            <a:srgbClr val="F78A3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969D8F-7066-4D0C-8E8D-CB0B3C95B539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83A58B9-49A2-4B1B-80ED-D71C63DC33C4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876300" cy="85725"/>
          </a:xfrm>
          <a:prstGeom prst="roundRect">
            <a:avLst>
              <a:gd name="adj" fmla="val 44444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251A202-F4D6-47C4-A162-876111D5FDA1}"/>
              </a:ext>
            </a:extLst>
          </p:cNvPr>
          <p:cNvSpPr>
            <a:spLocks noGrp="1"/>
          </p:cNvSpPr>
          <p:nvPr/>
        </p:nvSpPr>
        <p:spPr>
          <a:xfrm>
            <a:off x="685800" y="1419225"/>
            <a:ext cx="581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D4E2FF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D4E2FF"/>
                </a:solidFill>
                <a:latin typeface="Arial"/>
                <a:ea typeface="Arial"/>
                <a:cs typeface="Arial"/>
              </a:rPr>
              <a:t>ХАКАТОН ·  2026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7C792D1-1C88-4DAF-AC1F-ACEEE65ABAE9}"/>
              </a:ext>
            </a:extLst>
          </p:cNvPr>
          <p:cNvSpPr>
            <a:spLocks noGrp="1"/>
          </p:cNvSpPr>
          <p:nvPr/>
        </p:nvSpPr>
        <p:spPr>
          <a:xfrm>
            <a:off x="666750" y="1971675"/>
            <a:ext cx="6762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9025"/>
          </a:bodyPr>
          <a:lstStyle/>
          <a:p>
            <a:pPr algn="l">
              <a:lnSpc>
                <a:spcPct val="95000"/>
              </a:lnSpc>
              <a:buNone/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Executor</a:t>
            </a:r>
          </a:p>
          <a:p>
            <a:pPr algn="l">
              <a:lnSpc>
                <a:spcPct val="95000"/>
              </a:lnSpc>
              <a:buNone/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Balancer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7D20BC3-0B54-425B-ADD5-3C12DB2C9300}"/>
              </a:ext>
            </a:extLst>
          </p:cNvPr>
          <p:cNvSpPr>
            <a:spLocks noGrp="1"/>
          </p:cNvSpPr>
          <p:nvPr/>
        </p:nvSpPr>
        <p:spPr>
          <a:xfrm>
            <a:off x="714375" y="3952875"/>
            <a:ext cx="61912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>
                <a:solidFill>
                  <a:srgbClr val="E5EE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5EEFF"/>
                </a:solidFill>
                <a:latin typeface="Arial"/>
                <a:ea typeface="Arial"/>
                <a:cs typeface="Arial"/>
              </a:rPr>
              <a:t>Справедливое распределение заявок</a:t>
            </a:r>
          </a:p>
          <a:p>
            <a:pPr algn="l">
              <a:defRPr sz="1875" b="0">
                <a:solidFill>
                  <a:srgbClr val="E5EE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5EEFF"/>
                </a:solidFill>
                <a:latin typeface="Arial"/>
                <a:ea typeface="Arial"/>
                <a:cs typeface="Arial"/>
              </a:rPr>
              <a:t>между исполнителями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4AA1732-2A1D-4C6D-8D6A-322B27F3E9B4}"/>
              </a:ext>
            </a:extLst>
          </p:cNvPr>
          <p:cNvSpPr>
            <a:spLocks noGrp="1"/>
          </p:cNvSpPr>
          <p:nvPr/>
        </p:nvSpPr>
        <p:spPr>
          <a:xfrm>
            <a:off x="714374" y="5715000"/>
            <a:ext cx="1126426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ProgChillers</a:t>
            </a: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·  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(Галин Тимур, Мухаметов Самат, Новиков Егор, </a:t>
            </a:r>
            <a:r>
              <a:rPr lang="ru-RU"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Шаймухаметов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Азат, </a:t>
            </a:r>
            <a:r>
              <a:rPr lang="ru-RU"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Тереньтьев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Владислав)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7E99918-ADBD-4A6F-B12D-5F74EE82CF88}"/>
              </a:ext>
            </a:extLst>
          </p:cNvPr>
          <p:cNvSpPr>
            <a:spLocks noGrp="1"/>
          </p:cNvSpPr>
          <p:nvPr/>
        </p:nvSpPr>
        <p:spPr>
          <a:xfrm>
            <a:off x="714375" y="6172200"/>
            <a:ext cx="523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B8C9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8C9E9"/>
                </a:solidFill>
                <a:latin typeface="Arial"/>
                <a:ea typeface="Arial"/>
                <a:cs typeface="Arial"/>
              </a:rPr>
              <a:t>Операционная система назначения и контроля</a:t>
            </a:r>
          </a:p>
        </p:txBody>
      </p:sp>
      <p:sp>
        <p:nv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6344D9D-12E6-40F4-916E-A429C843F2EE}"/>
              </a:ext>
            </a:extLst>
          </p:cNvPr>
          <p:cNvSpPr>
            <a:spLocks noGrp="1"/>
          </p:cNvSpPr>
          <p:nvPr/>
        </p:nvSpPr>
        <p:spPr>
          <a:xfrm>
            <a:off x="9315450" y="1771650"/>
            <a:ext cx="409575" cy="904875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4FCCE261-DDF1-4A7A-AB19-FB15850DB7D7}"/>
              </a:ext>
            </a:extLst>
          </p:cNvPr>
          <p:cNvSpPr>
            <a:spLocks noGrp="1"/>
          </p:cNvSpPr>
          <p:nvPr/>
        </p:nvSpPr>
        <p:spPr>
          <a:xfrm flipV="1">
            <a:off x="9144000" y="3143250"/>
            <a:ext cx="666750" cy="83820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248A0CAB-92F8-4E1D-8039-00089E6B75CB}"/>
              </a:ext>
            </a:extLst>
          </p:cNvPr>
          <p:cNvSpPr>
            <a:spLocks noGrp="1"/>
          </p:cNvSpPr>
          <p:nvPr/>
        </p:nvSpPr>
        <p:spPr>
          <a:xfrm>
            <a:off x="8505825" y="1419225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F2B8FA2-17CF-498B-800D-855E099FFFD6}"/>
              </a:ext>
            </a:extLst>
          </p:cNvPr>
          <p:cNvSpPr>
            <a:spLocks noGrp="1"/>
          </p:cNvSpPr>
          <p:nvPr/>
        </p:nvSpPr>
        <p:spPr>
          <a:xfrm>
            <a:off x="8562975" y="1800225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АИС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9A255605-6F80-4451-AC5E-91F005D26F6B}"/>
              </a:ext>
            </a:extLst>
          </p:cNvPr>
          <p:cNvSpPr>
            <a:spLocks noGrp="1"/>
          </p:cNvSpPr>
          <p:nvPr/>
        </p:nvSpPr>
        <p:spPr>
          <a:xfrm>
            <a:off x="9886950" y="2657475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D69B588-74FD-4E42-BA49-D096900F8053}"/>
              </a:ext>
            </a:extLst>
          </p:cNvPr>
          <p:cNvSpPr>
            <a:spLocks noGrp="1"/>
          </p:cNvSpPr>
          <p:nvPr/>
        </p:nvSpPr>
        <p:spPr>
          <a:xfrm>
            <a:off x="9944100" y="3038475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ПОДБОР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DF03EE25-CAD5-46BC-A1F7-8128EB8B949A}"/>
              </a:ext>
            </a:extLst>
          </p:cNvPr>
          <p:cNvSpPr>
            <a:spLocks noGrp="1"/>
          </p:cNvSpPr>
          <p:nvPr/>
        </p:nvSpPr>
        <p:spPr>
          <a:xfrm>
            <a:off x="8458200" y="3943350"/>
            <a:ext cx="914400" cy="9144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A1662CB-DDD9-4D64-9EC0-66F1DE0117BB}"/>
              </a:ext>
            </a:extLst>
          </p:cNvPr>
          <p:cNvSpPr>
            <a:spLocks noGrp="1"/>
          </p:cNvSpPr>
          <p:nvPr/>
        </p:nvSpPr>
        <p:spPr>
          <a:xfrm>
            <a:off x="8515350" y="4324350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НАЗНАЧЕНИЕ</a:t>
            </a:r>
          </a:p>
        </p:txBody>
      </p:sp>
    </p:spTree>
    <p:extLst>
      <p:ext uri="{BB962C8B-B14F-4D97-AF65-F5344CB8AC3E}">
        <p14:creationId xmlns:p14="http://schemas.microsoft.com/office/powerpoint/2010/main" val="1436937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6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Овал 22">
            <a:extLst>
              <a:ext uri="{FF2B5EF4-FFF2-40B4-BE49-F238E27FC236}">
                <a16:creationId xmlns:a16="http://schemas.microsoft.com/office/drawing/2014/main" id="{F38FD260-9583-4F70-8A3E-D28C2CBFDDF0}"/>
              </a:ext>
            </a:extLst>
          </p:cNvPr>
          <p:cNvSpPr>
            <a:spLocks noGrp="1"/>
          </p:cNvSpPr>
          <p:nvPr/>
        </p:nvSpPr>
        <p:spPr>
          <a:xfrm>
            <a:off x="8858250" y="285750"/>
            <a:ext cx="2619375" cy="2857500"/>
          </a:xfrm>
          <a:prstGeom prst="ellipse">
            <a:avLst/>
          </a:prstGeom>
          <a:solidFill>
            <a:srgbClr val="FA7A28"/>
          </a:solidFill>
          <a:ln w="0">
            <a:noFill/>
            <a:prstDash val="solid"/>
          </a:ln>
        </p:spPr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B5E41B1A-3CD3-4FA7-801A-8993E2B4BF0A}"/>
              </a:ext>
            </a:extLst>
          </p:cNvPr>
          <p:cNvSpPr>
            <a:spLocks noGrp="1"/>
          </p:cNvSpPr>
          <p:nvPr/>
        </p:nvSpPr>
        <p:spPr>
          <a:xfrm>
            <a:off x="10096500" y="1962150"/>
            <a:ext cx="1571625" cy="1571625"/>
          </a:xfrm>
          <a:prstGeom prst="ellipse">
            <a:avLst/>
          </a:prstGeom>
          <a:solidFill>
            <a:srgbClr val="173F85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3FBC46E-6E84-4B21-9657-7E5B91B22349}"/>
              </a:ext>
            </a:extLst>
          </p:cNvPr>
          <p:cNvSpPr>
            <a:spLocks noGrp="1"/>
          </p:cNvSpPr>
          <p:nvPr/>
        </p:nvSpPr>
        <p:spPr>
          <a:xfrm>
            <a:off x="11010900" y="381000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714AFBC-623B-4B14-9279-ED3F084CBDFD}"/>
              </a:ext>
            </a:extLst>
          </p:cNvPr>
          <p:cNvSpPr>
            <a:spLocks noGrp="1"/>
          </p:cNvSpPr>
          <p:nvPr/>
        </p:nvSpPr>
        <p:spPr>
          <a:xfrm>
            <a:off x="11410950" y="381000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FCDDF71-867A-41CF-B5B8-2884787DE076}"/>
              </a:ext>
            </a:extLst>
          </p:cNvPr>
          <p:cNvSpPr>
            <a:spLocks noGrp="1"/>
          </p:cNvSpPr>
          <p:nvPr/>
        </p:nvSpPr>
        <p:spPr>
          <a:xfrm>
            <a:off x="11668125" y="381000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5969B70-727C-45C2-AFE6-002925E57A89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876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EXECUTOR BALANCER  /  ПРОЕКТ PROGCHILLERS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13DF8E-9FF7-44F5-B2B5-B9236A76DB69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8858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735"/>
          </a:bodyPr>
          <a:lstStyle/>
          <a:p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Случайное назначение</a:t>
            </a:r>
          </a:p>
          <a:p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решает задачу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6EAE0AD-357F-464F-BA4D-60B94AFF10AA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7334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FFF5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5EC"/>
                </a:solidFill>
                <a:latin typeface="Arial"/>
                <a:ea typeface="Arial"/>
                <a:cs typeface="Arial"/>
              </a:rPr>
              <a:t>Ограничения и нагрузки меняются после каждого назначения — система должна учитывать их сразу.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8FF33D6-D3B9-429C-B9C6-19A5C5A4F18C}"/>
              </a:ext>
            </a:extLst>
          </p:cNvPr>
          <p:cNvSpPr>
            <a:spLocks noGrp="1"/>
          </p:cNvSpPr>
          <p:nvPr/>
        </p:nvSpPr>
        <p:spPr>
          <a:xfrm>
            <a:off x="666750" y="63055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 из 5 участников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AB917F9-63E9-4002-A5EC-B7A4AD566DAE}"/>
              </a:ext>
            </a:extLst>
          </p:cNvPr>
          <p:cNvSpPr>
            <a:spLocks noGrp="1"/>
          </p:cNvSpPr>
          <p:nvPr/>
        </p:nvSpPr>
        <p:spPr>
          <a:xfrm>
            <a:off x="11382375" y="62865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0E62B7D-C64A-40D4-9DFE-E0A9B5D0E1E3}"/>
              </a:ext>
            </a:extLst>
          </p:cNvPr>
          <p:cNvSpPr>
            <a:spLocks noGrp="1"/>
          </p:cNvSpPr>
          <p:nvPr/>
        </p:nvSpPr>
        <p:spPr>
          <a:xfrm>
            <a:off x="742950" y="4762500"/>
            <a:ext cx="114300" cy="1143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CFDAA7A-B5CE-4264-AD13-682290231114}"/>
              </a:ext>
            </a:extLst>
          </p:cNvPr>
          <p:cNvSpPr>
            <a:spLocks noGrp="1"/>
          </p:cNvSpPr>
          <p:nvPr/>
        </p:nvSpPr>
        <p:spPr>
          <a:xfrm>
            <a:off x="971550" y="47053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Несовместимость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63F5DED-B050-4DC5-9CEB-7550721AF8F1}"/>
              </a:ext>
            </a:extLst>
          </p:cNvPr>
          <p:cNvSpPr>
            <a:spLocks noGrp="1"/>
          </p:cNvSpPr>
          <p:nvPr/>
        </p:nvSpPr>
        <p:spPr>
          <a:xfrm>
            <a:off x="3019425" y="4705350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FFF2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2E8"/>
                </a:solidFill>
                <a:latin typeface="Arial"/>
                <a:ea typeface="Arial"/>
                <a:cs typeface="Arial"/>
              </a:rPr>
              <a:t>Не каждый исполнитель может принять заявку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A289EF6C-594E-489D-8738-454F78E6DB08}"/>
              </a:ext>
            </a:extLst>
          </p:cNvPr>
          <p:cNvSpPr>
            <a:spLocks noGrp="1"/>
          </p:cNvSpPr>
          <p:nvPr/>
        </p:nvSpPr>
        <p:spPr>
          <a:xfrm>
            <a:off x="6029325" y="4762500"/>
            <a:ext cx="114300" cy="1143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3329BE0-7A7B-4D04-AD91-C07C1FE09332}"/>
              </a:ext>
            </a:extLst>
          </p:cNvPr>
          <p:cNvSpPr>
            <a:spLocks noGrp="1"/>
          </p:cNvSpPr>
          <p:nvPr/>
        </p:nvSpPr>
        <p:spPr>
          <a:xfrm>
            <a:off x="6257925" y="47053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Перекос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3B05B7E-2AC2-4FB9-B1D1-1E7C1B07DD03}"/>
              </a:ext>
            </a:extLst>
          </p:cNvPr>
          <p:cNvSpPr>
            <a:spLocks noGrp="1"/>
          </p:cNvSpPr>
          <p:nvPr/>
        </p:nvSpPr>
        <p:spPr>
          <a:xfrm>
            <a:off x="8305800" y="4705350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FFF2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2E8"/>
                </a:solidFill>
                <a:latin typeface="Arial"/>
                <a:ea typeface="Arial"/>
                <a:cs typeface="Arial"/>
              </a:rPr>
              <a:t>Текущая и дневная нагрузка меняются после каждого назначения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0DE9D2CA-1A28-4756-BB8F-EB2A2B7104E3}"/>
              </a:ext>
            </a:extLst>
          </p:cNvPr>
          <p:cNvSpPr>
            <a:spLocks noGrp="1"/>
          </p:cNvSpPr>
          <p:nvPr/>
        </p:nvSpPr>
        <p:spPr>
          <a:xfrm>
            <a:off x="742950" y="547687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7C5128C-83D3-4C77-877B-D22E404193E3}"/>
              </a:ext>
            </a:extLst>
          </p:cNvPr>
          <p:cNvSpPr>
            <a:spLocks noGrp="1"/>
          </p:cNvSpPr>
          <p:nvPr/>
        </p:nvSpPr>
        <p:spPr>
          <a:xfrm>
            <a:off x="971550" y="54197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Гонки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B3212D9-1879-4BB7-BA15-8A68FEC0AC0B}"/>
              </a:ext>
            </a:extLst>
          </p:cNvPr>
          <p:cNvSpPr>
            <a:spLocks noGrp="1"/>
          </p:cNvSpPr>
          <p:nvPr/>
        </p:nvSpPr>
        <p:spPr>
          <a:xfrm>
            <a:off x="3019425" y="5419725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FFF2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2E8"/>
                </a:solidFill>
                <a:latin typeface="Arial"/>
                <a:ea typeface="Arial"/>
                <a:cs typeface="Arial"/>
              </a:rPr>
              <a:t>Параллельные обработчики могут одновременно занять один лимит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EFC3DC46-3E5F-4671-88AA-CE21F7EDF815}"/>
              </a:ext>
            </a:extLst>
          </p:cNvPr>
          <p:cNvSpPr>
            <a:spLocks noGrp="1"/>
          </p:cNvSpPr>
          <p:nvPr/>
        </p:nvSpPr>
        <p:spPr>
          <a:xfrm>
            <a:off x="6029325" y="547687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C9FA15D-F450-4751-B7F1-825774FBDCAC}"/>
              </a:ext>
            </a:extLst>
          </p:cNvPr>
          <p:cNvSpPr>
            <a:spLocks noGrp="1"/>
          </p:cNvSpPr>
          <p:nvPr/>
        </p:nvSpPr>
        <p:spPr>
          <a:xfrm>
            <a:off x="6257925" y="54197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Потеря подтверждения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8C36D14-CB34-406A-BF7B-F33C95A56064}"/>
              </a:ext>
            </a:extLst>
          </p:cNvPr>
          <p:cNvSpPr>
            <a:spLocks noGrp="1"/>
          </p:cNvSpPr>
          <p:nvPr/>
        </p:nvSpPr>
        <p:spPr>
          <a:xfrm>
            <a:off x="8305800" y="5419725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FFF2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2E8"/>
                </a:solidFill>
                <a:latin typeface="Arial"/>
                <a:ea typeface="Arial"/>
                <a:cs typeface="Arial"/>
              </a:rPr>
              <a:t>Сбой АИС не должен стирать уже принятое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170666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F113835-652E-4A38-9DF6-8E11298BF8D4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460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0C8"/>
                </a:solidFill>
                <a:latin typeface="Arial"/>
                <a:ea typeface="Arial"/>
                <a:cs typeface="Arial"/>
              </a:rPr>
              <a:t>ЦЕЛИ ОРГАНИЗАТОРОВ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1556FB8-D768-407A-8521-13B2B6D0EBE1}"/>
              </a:ext>
            </a:extLst>
          </p:cNvPr>
          <p:cNvSpPr>
            <a:spLocks noGrp="1"/>
          </p:cNvSpPr>
          <p:nvPr/>
        </p:nvSpPr>
        <p:spPr>
          <a:xfrm>
            <a:off x="11115675" y="371475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08D5665-1A5E-4D5E-8F40-20185BEC97F8}"/>
              </a:ext>
            </a:extLst>
          </p:cNvPr>
          <p:cNvSpPr>
            <a:spLocks noGrp="1"/>
          </p:cNvSpPr>
          <p:nvPr/>
        </p:nvSpPr>
        <p:spPr>
          <a:xfrm>
            <a:off x="11515725" y="371475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F20D901-FD90-48D5-8F79-0640B12912BE}"/>
              </a:ext>
            </a:extLst>
          </p:cNvPr>
          <p:cNvSpPr>
            <a:spLocks noGrp="1"/>
          </p:cNvSpPr>
          <p:nvPr/>
        </p:nvSpPr>
        <p:spPr>
          <a:xfrm>
            <a:off x="11772900" y="371475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3440E63-069D-4A9D-A759-AC7F76FF6939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Критерии, заданные кейсом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37A3B8B-31A2-43D8-A123-8E771CF8F2B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Это требования к приемке, а не опубликованные результаты нагрузочного теста.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7E66D6B-8756-4898-A133-9C59ED44E941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3A901AA-2882-4268-A461-A0E8A6111452}"/>
              </a:ext>
            </a:extLst>
          </p:cNvPr>
          <p:cNvSpPr>
            <a:spLocks noGrp="1"/>
          </p:cNvSpPr>
          <p:nvPr/>
        </p:nvSpPr>
        <p:spPr>
          <a:xfrm>
            <a:off x="11382375" y="65055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36856C5-8858-4C72-BE06-546BF15CD31D}"/>
              </a:ext>
            </a:extLst>
          </p:cNvPr>
          <p:cNvSpPr>
            <a:spLocks noGrp="1"/>
          </p:cNvSpPr>
          <p:nvPr/>
        </p:nvSpPr>
        <p:spPr>
          <a:xfrm>
            <a:off x="590550" y="2114550"/>
            <a:ext cx="2524125" cy="1466850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32F125D-171C-425D-8CF9-0DDF93718A79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2105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2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4 000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4AEC84F-95C4-4389-BC61-79B77360D3A5}"/>
              </a:ext>
            </a:extLst>
          </p:cNvPr>
          <p:cNvSpPr>
            <a:spLocks noGrp="1"/>
          </p:cNvSpPr>
          <p:nvPr/>
        </p:nvSpPr>
        <p:spPr>
          <a:xfrm>
            <a:off x="800100" y="2847975"/>
            <a:ext cx="2105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заявок в час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B9D903F-7EA1-4262-BDEF-391B2A776CDD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2105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базовая пропускная способность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E81E42C-CCB4-4575-9A2C-AB368869F313}"/>
              </a:ext>
            </a:extLst>
          </p:cNvPr>
          <p:cNvSpPr>
            <a:spLocks noGrp="1"/>
          </p:cNvSpPr>
          <p:nvPr/>
        </p:nvSpPr>
        <p:spPr>
          <a:xfrm>
            <a:off x="3333750" y="2114550"/>
            <a:ext cx="2524125" cy="1466850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6121166-E8C2-4B26-A885-2DAE538BA5B8}"/>
              </a:ext>
            </a:extLst>
          </p:cNvPr>
          <p:cNvSpPr>
            <a:spLocks noGrp="1"/>
          </p:cNvSpPr>
          <p:nvPr/>
        </p:nvSpPr>
        <p:spPr>
          <a:xfrm>
            <a:off x="3543300" y="2266950"/>
            <a:ext cx="2105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2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±1–2%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8D7C515-057C-4D36-8878-4452B8613A68}"/>
              </a:ext>
            </a:extLst>
          </p:cNvPr>
          <p:cNvSpPr>
            <a:spLocks noGrp="1"/>
          </p:cNvSpPr>
          <p:nvPr/>
        </p:nvSpPr>
        <p:spPr>
          <a:xfrm>
            <a:off x="3543300" y="2847975"/>
            <a:ext cx="2105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отклонение fairness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DE161EE-DA2F-4CD7-AD3C-1C8CDFD9D9CF}"/>
              </a:ext>
            </a:extLst>
          </p:cNvPr>
          <p:cNvSpPr>
            <a:spLocks noGrp="1"/>
          </p:cNvSpPr>
          <p:nvPr/>
        </p:nvSpPr>
        <p:spPr>
          <a:xfrm>
            <a:off x="3543300" y="3143250"/>
            <a:ext cx="2105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среди сопоставимых пулов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49E66FD-9A00-4493-9748-D36476F9C0D2}"/>
              </a:ext>
            </a:extLst>
          </p:cNvPr>
          <p:cNvSpPr>
            <a:spLocks noGrp="1"/>
          </p:cNvSpPr>
          <p:nvPr/>
        </p:nvSpPr>
        <p:spPr>
          <a:xfrm>
            <a:off x="6076950" y="2114550"/>
            <a:ext cx="2524125" cy="1466850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26EA3A5-1BB2-438C-97B5-625FA682A83C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21050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2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2–10 c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FB20C10-2A18-468D-AB7E-A3233D455625}"/>
              </a:ext>
            </a:extLst>
          </p:cNvPr>
          <p:cNvSpPr>
            <a:spLocks noGrp="1"/>
          </p:cNvSpPr>
          <p:nvPr/>
        </p:nvSpPr>
        <p:spPr>
          <a:xfrm>
            <a:off x="6286500" y="2847975"/>
            <a:ext cx="2105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подтверждение АИС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3F44161-24AF-44C1-9D71-45C497E613F0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21050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асинхронный ответ назначения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D7AA96A-1F53-4EF3-9E11-56A592A4AD43}"/>
              </a:ext>
            </a:extLst>
          </p:cNvPr>
          <p:cNvSpPr>
            <a:spLocks noGrp="1"/>
          </p:cNvSpPr>
          <p:nvPr/>
        </p:nvSpPr>
        <p:spPr>
          <a:xfrm>
            <a:off x="8820150" y="2114550"/>
            <a:ext cx="2781300" cy="1466850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432C07D-6A53-41BC-8AD6-4FFBB3717E77}"/>
              </a:ext>
            </a:extLst>
          </p:cNvPr>
          <p:cNvSpPr>
            <a:spLocks noGrp="1"/>
          </p:cNvSpPr>
          <p:nvPr/>
        </p:nvSpPr>
        <p:spPr>
          <a:xfrm>
            <a:off x="9029700" y="2266950"/>
            <a:ext cx="2362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2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20+ / 15+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407BE21-D7CD-40FF-96CF-9833FF71336A}"/>
              </a:ext>
            </a:extLst>
          </p:cNvPr>
          <p:cNvSpPr>
            <a:spLocks noGrp="1"/>
          </p:cNvSpPr>
          <p:nvPr/>
        </p:nvSpPr>
        <p:spPr>
          <a:xfrm>
            <a:off x="9029700" y="2847975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параметров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95160A2-E5C5-4CCC-B487-D6FD2E82DF09}"/>
              </a:ext>
            </a:extLst>
          </p:cNvPr>
          <p:cNvSpPr>
            <a:spLocks noGrp="1"/>
          </p:cNvSpPr>
          <p:nvPr/>
        </p:nvSpPr>
        <p:spPr>
          <a:xfrm>
            <a:off x="9029700" y="31432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исполнитель / заявка, расширяемо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1ECECDB9-22AB-4AF3-AEF2-3DC7A97F1268}"/>
              </a:ext>
            </a:extLst>
          </p:cNvPr>
          <p:cNvSpPr>
            <a:spLocks noGrp="1"/>
          </p:cNvSpPr>
          <p:nvPr/>
        </p:nvSpPr>
        <p:spPr>
          <a:xfrm>
            <a:off x="590550" y="4019550"/>
            <a:ext cx="11010900" cy="1162050"/>
          </a:xfrm>
          <a:prstGeom prst="roundRect">
            <a:avLst>
              <a:gd name="adj" fmla="val 16393"/>
            </a:avLst>
          </a:prstGeom>
          <a:solidFill>
            <a:srgbClr val="E8EFFB"/>
          </a:solidFill>
          <a:ln w="0">
            <a:noFill/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110CF33-EC4F-40D1-AD09-FC7954340714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04203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Всплески, параллельная обработка, дневные лимиты и parent_id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7A2A541-8CD9-409F-A39C-B72F3017F142}"/>
              </a:ext>
            </a:extLst>
          </p:cNvPr>
          <p:cNvSpPr>
            <a:spLocks noGrp="1"/>
          </p:cNvSpPr>
          <p:nvPr/>
        </p:nvSpPr>
        <p:spPr>
          <a:xfrm>
            <a:off x="876300" y="4648200"/>
            <a:ext cx="10420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Сравнивать fairness нужно внутри пулов исполнителей, которые подходят одной и той же заявке.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A8419BF-1379-40B8-9153-023B0B28AF84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76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B85B1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85B13"/>
                </a:solidFill>
                <a:latin typeface="Arial"/>
                <a:ea typeface="Arial"/>
                <a:cs typeface="Arial"/>
              </a:rPr>
              <a:t>В проекте предусмотрены тестовый генератор и сценарии проверки; целевой 30-минутный acceptance-run требует отдельного чистого прогона.</a:t>
            </a:r>
          </a:p>
        </p:txBody>
      </p:sp>
    </p:spTree>
    <p:extLst>
      <p:ext uri="{BB962C8B-B14F-4D97-AF65-F5344CB8AC3E}">
        <p14:creationId xmlns:p14="http://schemas.microsoft.com/office/powerpoint/2010/main" val="6133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1F672EE-F7BD-487C-B2DF-F92D95F3C38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460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0C8"/>
                </a:solidFill>
                <a:latin typeface="Arial"/>
                <a:ea typeface="Arial"/>
                <a:cs typeface="Arial"/>
              </a:rPr>
              <a:t>АЛГОРИТМ В ЧЕТЫРЁХ ШАГАХ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13BDB643-6A35-4165-A1F4-74BD7F9A8914}"/>
              </a:ext>
            </a:extLst>
          </p:cNvPr>
          <p:cNvSpPr>
            <a:spLocks noGrp="1"/>
          </p:cNvSpPr>
          <p:nvPr/>
        </p:nvSpPr>
        <p:spPr>
          <a:xfrm>
            <a:off x="11115675" y="371475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183D13D-1E75-45C5-B86E-2D2266A353A0}"/>
              </a:ext>
            </a:extLst>
          </p:cNvPr>
          <p:cNvSpPr>
            <a:spLocks noGrp="1"/>
          </p:cNvSpPr>
          <p:nvPr/>
        </p:nvSpPr>
        <p:spPr>
          <a:xfrm>
            <a:off x="11515725" y="371475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B3A75B7-D346-422A-A273-49710020ABFB}"/>
              </a:ext>
            </a:extLst>
          </p:cNvPr>
          <p:cNvSpPr>
            <a:spLocks noGrp="1"/>
          </p:cNvSpPr>
          <p:nvPr/>
        </p:nvSpPr>
        <p:spPr>
          <a:xfrm>
            <a:off x="11772900" y="371475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D304A82-F7D4-42BC-BE39-DE74707A3212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Логика назначения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270B401-98BD-4D21-B8E5-E6095262E07E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Система сначала строит допустимый пул исполнителей и только затем выбирает наименее загруженного по стратегии.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6F16F8F-7F55-4E17-AD09-E25FE3BC7918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ED3F738-25E4-48CD-B01E-7B7629B5A9A1}"/>
              </a:ext>
            </a:extLst>
          </p:cNvPr>
          <p:cNvSpPr>
            <a:spLocks noGrp="1"/>
          </p:cNvSpPr>
          <p:nvPr/>
        </p:nvSpPr>
        <p:spPr>
          <a:xfrm>
            <a:off x="11382375" y="65055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CA31A6A-E59C-4FF0-9964-24B86995BD36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43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7B9EBD62-9DB6-4B76-887A-BAB26587FBF1}"/>
              </a:ext>
            </a:extLst>
          </p:cNvPr>
          <p:cNvSpPr>
            <a:spLocks noGrp="1"/>
          </p:cNvSpPr>
          <p:nvPr/>
        </p:nvSpPr>
        <p:spPr>
          <a:xfrm>
            <a:off x="590550" y="2676525"/>
            <a:ext cx="2343150" cy="0"/>
          </a:xfrm>
          <a:prstGeom prst="line">
            <a:avLst/>
          </a:prstGeom>
          <a:noFill/>
          <a:ln w="38100">
            <a:solidFill>
              <a:srgbClr val="2460C8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A0417E7-CEF9-4DA7-A62B-A58193D72E45}"/>
              </a:ext>
            </a:extLst>
          </p:cNvPr>
          <p:cNvSpPr>
            <a:spLocks noGrp="1"/>
          </p:cNvSpPr>
          <p:nvPr/>
        </p:nvSpPr>
        <p:spPr>
          <a:xfrm>
            <a:off x="590550" y="2933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Принять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FAD7D4B-2DBD-46DC-9E2B-00CF8A8DAD18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Проверить event id и сохранить заявку</a:t>
            </a:r>
          </a:p>
        </p:txBody>
      </p:sp>
      <p:sp>
        <p:nv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2679E47C-2AB4-421B-BA32-0C874EE707B3}"/>
              </a:ext>
            </a:extLst>
          </p:cNvPr>
          <p:cNvSpPr>
            <a:spLocks noGrp="1"/>
          </p:cNvSpPr>
          <p:nvPr/>
        </p:nvSpPr>
        <p:spPr>
          <a:xfrm>
            <a:off x="2971800" y="2676525"/>
            <a:ext cx="371475" cy="0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507F2314-BB5D-4565-984A-AB2E6C879FFC}"/>
              </a:ext>
            </a:extLst>
          </p:cNvPr>
          <p:cNvSpPr>
            <a:spLocks noGrp="1"/>
          </p:cNvSpPr>
          <p:nvPr/>
        </p:nvSpPr>
        <p:spPr>
          <a:xfrm>
            <a:off x="3267075" y="2628900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2489410D-EAC6-4700-8729-B8856D0BA698}"/>
              </a:ext>
            </a:extLst>
          </p:cNvPr>
          <p:cNvSpPr>
            <a:spLocks noGrp="1"/>
          </p:cNvSpPr>
          <p:nvPr/>
        </p:nvSpPr>
        <p:spPr>
          <a:xfrm flipV="1">
            <a:off x="3267075" y="2676525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ED1C164-CF9D-412E-945D-1A59F63068CA}"/>
              </a:ext>
            </a:extLst>
          </p:cNvPr>
          <p:cNvSpPr>
            <a:spLocks noGrp="1"/>
          </p:cNvSpPr>
          <p:nvPr/>
        </p:nvSpPr>
        <p:spPr>
          <a:xfrm>
            <a:off x="3429000" y="2171700"/>
            <a:ext cx="43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F62287C-0689-41CE-8FAE-9956F6209EB9}"/>
              </a:ext>
            </a:extLst>
          </p:cNvPr>
          <p:cNvSpPr>
            <a:spLocks noGrp="1"/>
          </p:cNvSpPr>
          <p:nvPr/>
        </p:nvSpPr>
        <p:spPr>
          <a:xfrm>
            <a:off x="3429000" y="2676525"/>
            <a:ext cx="2343150" cy="0"/>
          </a:xfrm>
          <a:prstGeom prst="line">
            <a:avLst/>
          </a:prstGeom>
          <a:noFill/>
          <a:ln w="38100">
            <a:solidFill>
              <a:srgbClr val="2460C8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F3F97C4-CCC8-4861-B713-E89E7849E2C3}"/>
              </a:ext>
            </a:extLst>
          </p:cNvPr>
          <p:cNvSpPr>
            <a:spLocks noGrp="1"/>
          </p:cNvSpPr>
          <p:nvPr/>
        </p:nvSpPr>
        <p:spPr>
          <a:xfrm>
            <a:off x="3429000" y="2933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Отфильтровать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5432168-11F1-4090-BAA1-011E3F5FCEE0}"/>
              </a:ext>
            </a:extLst>
          </p:cNvPr>
          <p:cNvSpPr>
            <a:spLocks noGrp="1"/>
          </p:cNvSpPr>
          <p:nvPr/>
        </p:nvSpPr>
        <p:spPr>
          <a:xfrm>
            <a:off x="3429000" y="33337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Активность, правило, дневной лимит</a:t>
            </a:r>
          </a:p>
        </p:txBody>
      </p:sp>
      <p:sp>
        <p:nv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0F68D1A-6E3D-4856-97F3-2AEF7EFB8923}"/>
              </a:ext>
            </a:extLst>
          </p:cNvPr>
          <p:cNvSpPr>
            <a:spLocks noGrp="1"/>
          </p:cNvSpPr>
          <p:nvPr/>
        </p:nvSpPr>
        <p:spPr>
          <a:xfrm>
            <a:off x="5810250" y="2676525"/>
            <a:ext cx="371475" cy="0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3E0A95C3-0F92-4D21-A1F4-0767E686B59F}"/>
              </a:ext>
            </a:extLst>
          </p:cNvPr>
          <p:cNvSpPr>
            <a:spLocks noGrp="1"/>
          </p:cNvSpPr>
          <p:nvPr/>
        </p:nvSpPr>
        <p:spPr>
          <a:xfrm>
            <a:off x="6105525" y="2628900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07ADF5F8-9DB7-43D9-B4A8-D641171CE8E8}"/>
              </a:ext>
            </a:extLst>
          </p:cNvPr>
          <p:cNvSpPr>
            <a:spLocks noGrp="1"/>
          </p:cNvSpPr>
          <p:nvPr/>
        </p:nvSpPr>
        <p:spPr>
          <a:xfrm flipV="1">
            <a:off x="6105525" y="2676525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BA1FCFC-966E-46C2-8EE4-E1AE70A8C954}"/>
              </a:ext>
            </a:extLst>
          </p:cNvPr>
          <p:cNvSpPr>
            <a:spLocks noGrp="1"/>
          </p:cNvSpPr>
          <p:nvPr/>
        </p:nvSpPr>
        <p:spPr>
          <a:xfrm>
            <a:off x="6267450" y="2171700"/>
            <a:ext cx="43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920CCE8D-2C76-4F6C-8873-4A70ECC039CD}"/>
              </a:ext>
            </a:extLst>
          </p:cNvPr>
          <p:cNvSpPr>
            <a:spLocks noGrp="1"/>
          </p:cNvSpPr>
          <p:nvPr/>
        </p:nvSpPr>
        <p:spPr>
          <a:xfrm>
            <a:off x="6267450" y="2676525"/>
            <a:ext cx="2343150" cy="0"/>
          </a:xfrm>
          <a:prstGeom prst="line">
            <a:avLst/>
          </a:prstGeom>
          <a:noFill/>
          <a:ln w="38100">
            <a:solidFill>
              <a:srgbClr val="2460C8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2A80207-F5EA-4235-938B-B76D59E7B64F}"/>
              </a:ext>
            </a:extLst>
          </p:cNvPr>
          <p:cNvSpPr>
            <a:spLocks noGrp="1"/>
          </p:cNvSpPr>
          <p:nvPr/>
        </p:nvSpPr>
        <p:spPr>
          <a:xfrm>
            <a:off x="6267450" y="2933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Ранжировать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FD914D4-8216-4F22-81DB-9A55BE3C359D}"/>
              </a:ext>
            </a:extLst>
          </p:cNvPr>
          <p:cNvSpPr>
            <a:spLocks noGrp="1"/>
          </p:cNvSpPr>
          <p:nvPr/>
        </p:nvSpPr>
        <p:spPr>
          <a:xfrm>
            <a:off x="6267450" y="33337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Сравнить score допустимых кандидатов</a:t>
            </a:r>
          </a:p>
        </p:txBody>
      </p:sp>
      <p:sp>
        <p:nv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62A47ED0-13BC-4D97-9661-15F79E0788BB}"/>
              </a:ext>
            </a:extLst>
          </p:cNvPr>
          <p:cNvSpPr>
            <a:spLocks noGrp="1"/>
          </p:cNvSpPr>
          <p:nvPr/>
        </p:nvSpPr>
        <p:spPr>
          <a:xfrm>
            <a:off x="8648700" y="2676525"/>
            <a:ext cx="371475" cy="0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C3FDF898-F11B-4FB5-901A-53DABCE8F55E}"/>
              </a:ext>
            </a:extLst>
          </p:cNvPr>
          <p:cNvSpPr>
            <a:spLocks noGrp="1"/>
          </p:cNvSpPr>
          <p:nvPr/>
        </p:nvSpPr>
        <p:spPr>
          <a:xfrm>
            <a:off x="8943975" y="2628900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D16EA8AB-37D1-4155-97EC-BB2FB27F81F8}"/>
              </a:ext>
            </a:extLst>
          </p:cNvPr>
          <p:cNvSpPr>
            <a:spLocks noGrp="1"/>
          </p:cNvSpPr>
          <p:nvPr/>
        </p:nvSpPr>
        <p:spPr>
          <a:xfrm flipV="1">
            <a:off x="8943975" y="2676525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3252FF1-EE2D-4021-8088-E41D31445F4E}"/>
              </a:ext>
            </a:extLst>
          </p:cNvPr>
          <p:cNvSpPr>
            <a:spLocks noGrp="1"/>
          </p:cNvSpPr>
          <p:nvPr/>
        </p:nvSpPr>
        <p:spPr>
          <a:xfrm>
            <a:off x="9105900" y="2171700"/>
            <a:ext cx="438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560223DA-D5C2-4A13-A81A-8B565D721A70}"/>
              </a:ext>
            </a:extLst>
          </p:cNvPr>
          <p:cNvSpPr>
            <a:spLocks noGrp="1"/>
          </p:cNvSpPr>
          <p:nvPr/>
        </p:nvSpPr>
        <p:spPr>
          <a:xfrm>
            <a:off x="9105900" y="2676525"/>
            <a:ext cx="2343150" cy="0"/>
          </a:xfrm>
          <a:prstGeom prst="line">
            <a:avLst/>
          </a:prstGeom>
          <a:noFill/>
          <a:ln w="38100">
            <a:solidFill>
              <a:srgbClr val="EE651B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CFE40C1-7366-4353-85F6-7A4311AC3B9F}"/>
              </a:ext>
            </a:extLst>
          </p:cNvPr>
          <p:cNvSpPr>
            <a:spLocks noGrp="1"/>
          </p:cNvSpPr>
          <p:nvPr/>
        </p:nvSpPr>
        <p:spPr>
          <a:xfrm>
            <a:off x="9105900" y="2933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Зарезервировать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FBD7B64-405C-4310-9788-2C939399A647}"/>
              </a:ext>
            </a:extLst>
          </p:cNvPr>
          <p:cNvSpPr>
            <a:spLocks noGrp="1"/>
          </p:cNvSpPr>
          <p:nvPr/>
        </p:nvSpPr>
        <p:spPr>
          <a:xfrm>
            <a:off x="9105900" y="33337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Зафиксировать выбор и отправить в АИС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2C09948D-9CEB-40D5-99BA-7E3BD3C9C194}"/>
              </a:ext>
            </a:extLst>
          </p:cNvPr>
          <p:cNvSpPr>
            <a:spLocks noGrp="1"/>
          </p:cNvSpPr>
          <p:nvPr/>
        </p:nvSpPr>
        <p:spPr>
          <a:xfrm>
            <a:off x="590550" y="4381500"/>
            <a:ext cx="11010900" cy="819150"/>
          </a:xfrm>
          <a:prstGeom prst="roundRect">
            <a:avLst>
              <a:gd name="adj" fmla="val 19767"/>
            </a:avLst>
          </a:prstGeom>
          <a:solidFill>
            <a:srgbClr val="E8EFFB"/>
          </a:solidFill>
          <a:ln w="0">
            <a:noFill/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A26E119-E6F6-4915-A021-E677EB881B42}"/>
              </a:ext>
            </a:extLst>
          </p:cNvPr>
          <p:cNvSpPr>
            <a:spLocks noGrp="1"/>
          </p:cNvSpPr>
          <p:nvPr/>
        </p:nvSpPr>
        <p:spPr>
          <a:xfrm>
            <a:off x="838200" y="4572000"/>
            <a:ext cx="10496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Резерв и лимит фиксируются одной транзакцией; доставка и подтверждение АИС идут асинхронно.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8C48BB5-BAD5-4615-AD5D-B50CA8618D90}"/>
              </a:ext>
            </a:extLst>
          </p:cNvPr>
          <p:cNvSpPr>
            <a:spLocks noGrp="1"/>
          </p:cNvSpPr>
          <p:nvPr/>
        </p:nvSpPr>
        <p:spPr>
          <a:xfrm>
            <a:off x="838200" y="5362575"/>
            <a:ext cx="104965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Для дочерней заявки система предпочитает исполнителя родителя при активности и прохождении фильтров.</a:t>
            </a:r>
          </a:p>
        </p:txBody>
      </p:sp>
    </p:spTree>
    <p:extLst>
      <p:ext uri="{BB962C8B-B14F-4D97-AF65-F5344CB8AC3E}">
        <p14:creationId xmlns:p14="http://schemas.microsoft.com/office/powerpoint/2010/main" val="1803084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8A1CEBF-3632-45B4-98EA-475DD2FF4ABD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460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0C8"/>
                </a:solidFill>
                <a:latin typeface="Arial"/>
                <a:ea typeface="Arial"/>
                <a:cs typeface="Arial"/>
              </a:rPr>
              <a:t>КОНФИГУРИРУЕМЫЕ УСЛОВИЯ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027477A-1F67-4CCE-A845-C6E7195C115C}"/>
              </a:ext>
            </a:extLst>
          </p:cNvPr>
          <p:cNvSpPr>
            <a:spLocks noGrp="1"/>
          </p:cNvSpPr>
          <p:nvPr/>
        </p:nvSpPr>
        <p:spPr>
          <a:xfrm>
            <a:off x="11115675" y="371475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0DCB430-5424-482D-A44D-365C39DA0D8A}"/>
              </a:ext>
            </a:extLst>
          </p:cNvPr>
          <p:cNvSpPr>
            <a:spLocks noGrp="1"/>
          </p:cNvSpPr>
          <p:nvPr/>
        </p:nvSpPr>
        <p:spPr>
          <a:xfrm>
            <a:off x="11515725" y="371475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9CC6072-3A11-43B6-9EDC-EDC9AD702432}"/>
              </a:ext>
            </a:extLst>
          </p:cNvPr>
          <p:cNvSpPr>
            <a:spLocks noGrp="1"/>
          </p:cNvSpPr>
          <p:nvPr/>
        </p:nvSpPr>
        <p:spPr>
          <a:xfrm>
            <a:off x="11772900" y="371475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D704A6C-31EA-4A6A-8015-0D82931CC516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Параметры и правила подбора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BA72E6C-4332-4CC3-8ABE-CC2A352D8B83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Каталог задаёт поля и типы; JSON DSL определяет, кого допускать к заявке.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3789537-4536-4BF1-81D0-B62A56DA74A8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9DC6420-6616-46EA-8C62-021C3A8703BF}"/>
              </a:ext>
            </a:extLst>
          </p:cNvPr>
          <p:cNvSpPr>
            <a:spLocks noGrp="1"/>
          </p:cNvSpPr>
          <p:nvPr/>
        </p:nvSpPr>
        <p:spPr>
          <a:xfrm>
            <a:off x="11382375" y="65055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960317"/>
            <a:ext cx="6191250" cy="4061316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85ED036-A9A3-44F8-B80D-C886D51BC252}"/>
              </a:ext>
            </a:extLst>
          </p:cNvPr>
          <p:cNvSpPr>
            <a:spLocks noGrp="1"/>
          </p:cNvSpPr>
          <p:nvPr/>
        </p:nvSpPr>
        <p:spPr>
          <a:xfrm>
            <a:off x="7181850" y="20764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Что настраивает оператор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49602EE-B194-4811-8BC4-511BCB6D6D11}"/>
              </a:ext>
            </a:extLst>
          </p:cNvPr>
          <p:cNvSpPr>
            <a:spLocks noGrp="1"/>
          </p:cNvSpPr>
          <p:nvPr/>
        </p:nvSpPr>
        <p:spPr>
          <a:xfrm>
            <a:off x="7181850" y="2571750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Правило собирается из AND / OR / NOT условий по полям заявки и исполнителя.</a:t>
            </a:r>
          </a:p>
        </p:txBody>
      </p:sp>
      <p:sp>
        <p:nv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6E54B0D-A739-4464-BAE6-D776C52607A1}"/>
              </a:ext>
            </a:extLst>
          </p:cNvPr>
          <p:cNvSpPr>
            <a:spLocks noGrp="1"/>
          </p:cNvSpPr>
          <p:nvPr/>
        </p:nvSpPr>
        <p:spPr>
          <a:xfrm>
            <a:off x="7181850" y="3390900"/>
            <a:ext cx="41529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26B0FAC-73E3-4E8B-A56C-C1505EA68D5E}"/>
              </a:ext>
            </a:extLst>
          </p:cNvPr>
          <p:cNvSpPr>
            <a:spLocks noGrp="1"/>
          </p:cNvSpPr>
          <p:nvPr/>
        </p:nvSpPr>
        <p:spPr>
          <a:xfrm>
            <a:off x="7181850" y="3590925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Перед сохранением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2A5BDE8-7735-43A8-9CE5-AED0400BF9D2}"/>
              </a:ext>
            </a:extLst>
          </p:cNvPr>
          <p:cNvSpPr>
            <a:spLocks noGrp="1"/>
          </p:cNvSpPr>
          <p:nvPr/>
        </p:nvSpPr>
        <p:spPr>
          <a:xfrm>
            <a:off x="7181850" y="4000500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Проверка структуры и Dry-run показывают, проходит ли условие на текущем пуле.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BC103F8-E6A7-4901-968C-64BBC3614A55}"/>
              </a:ext>
            </a:extLst>
          </p:cNvPr>
          <p:cNvSpPr>
            <a:spLocks noGrp="1"/>
          </p:cNvSpPr>
          <p:nvPr/>
        </p:nvSpPr>
        <p:spPr>
          <a:xfrm>
            <a:off x="7181850" y="4953000"/>
            <a:ext cx="4095750" cy="704850"/>
          </a:xfrm>
          <a:prstGeom prst="roundRect">
            <a:avLst>
              <a:gd name="adj" fmla="val 18919"/>
            </a:avLst>
          </a:prstGeom>
          <a:solidFill>
            <a:srgbClr val="FFF0E4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CD94B8C-ED38-4D2C-AA5E-AEE30127F5B8}"/>
              </a:ext>
            </a:extLst>
          </p:cNvPr>
          <p:cNvSpPr>
            <a:spLocks noGrp="1"/>
          </p:cNvSpPr>
          <p:nvPr/>
        </p:nvSpPr>
        <p:spPr>
          <a:xfrm>
            <a:off x="7362825" y="5133975"/>
            <a:ext cx="37433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B85B1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5B13"/>
                </a:solidFill>
                <a:latin typeface="Arial"/>
                <a:ea typeface="Arial"/>
                <a:cs typeface="Arial"/>
              </a:rPr>
              <a:t>Стартовый каталог не достигает целевых 15+ и 20+ полей кейса.</a:t>
            </a:r>
          </a:p>
        </p:txBody>
      </p:sp>
    </p:spTree>
    <p:extLst>
      <p:ext uri="{BB962C8B-B14F-4D97-AF65-F5344CB8AC3E}">
        <p14:creationId xmlns:p14="http://schemas.microsoft.com/office/powerpoint/2010/main" val="167179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97488D9-DB77-46ED-B6DD-2C29A5FF8DC2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460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0C8"/>
                </a:solidFill>
                <a:latin typeface="Arial"/>
                <a:ea typeface="Arial"/>
                <a:cs typeface="Arial"/>
              </a:rPr>
              <a:t>СТРАТЕГИЯ OPEN LOAD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F45D14F-1ACD-41DC-8D36-D300BFBA2A54}"/>
              </a:ext>
            </a:extLst>
          </p:cNvPr>
          <p:cNvSpPr>
            <a:spLocks noGrp="1"/>
          </p:cNvSpPr>
          <p:nvPr/>
        </p:nvSpPr>
        <p:spPr>
          <a:xfrm>
            <a:off x="11115675" y="371475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A321BB9-F6FE-41AA-8A47-A77320D1BD7E}"/>
              </a:ext>
            </a:extLst>
          </p:cNvPr>
          <p:cNvSpPr>
            <a:spLocks noGrp="1"/>
          </p:cNvSpPr>
          <p:nvPr/>
        </p:nvSpPr>
        <p:spPr>
          <a:xfrm>
            <a:off x="11515725" y="371475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D0EB989-1377-44FE-9129-01D2285C4009}"/>
              </a:ext>
            </a:extLst>
          </p:cNvPr>
          <p:cNvSpPr>
            <a:spLocks noGrp="1"/>
          </p:cNvSpPr>
          <p:nvPr/>
        </p:nvSpPr>
        <p:spPr>
          <a:xfrm>
            <a:off x="11772900" y="371475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39B6BFA-782C-4AAA-ADE3-7C4EB1B4E425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Ранжирование допустимых исполнителей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EB5FC4-A472-41BD-BC95-9BEB285FA141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После фильтрации система сравнивает нормированную нагрузку и применяет заданные коэффициенты.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D3264A6-4B0F-4E1D-AC32-CACA72D25F6F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F6F638D-268F-41B1-8F51-E556C31042A3}"/>
              </a:ext>
            </a:extLst>
          </p:cNvPr>
          <p:cNvSpPr>
            <a:spLocks noGrp="1"/>
          </p:cNvSpPr>
          <p:nvPr/>
        </p:nvSpPr>
        <p:spPr>
          <a:xfrm>
            <a:off x="11382375" y="65055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A2FFD7D-8999-4A27-9E45-FE3D37AB5BFE}"/>
              </a:ext>
            </a:extLst>
          </p:cNvPr>
          <p:cNvSpPr>
            <a:spLocks noGrp="1"/>
          </p:cNvSpPr>
          <p:nvPr/>
        </p:nvSpPr>
        <p:spPr>
          <a:xfrm>
            <a:off x="590550" y="20478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Порядок решения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BAE6641A-82CD-44EC-AF87-12E1461D30E4}"/>
              </a:ext>
            </a:extLst>
          </p:cNvPr>
          <p:cNvSpPr>
            <a:spLocks noGrp="1"/>
          </p:cNvSpPr>
          <p:nvPr/>
        </p:nvSpPr>
        <p:spPr>
          <a:xfrm>
            <a:off x="628650" y="2638425"/>
            <a:ext cx="323850" cy="323850"/>
          </a:xfrm>
          <a:prstGeom prst="ellipse">
            <a:avLst/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D8F2B0E-E389-46D4-B12D-018C648C0057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33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029E3B-31B3-44B7-A112-C90AA18E01BE}"/>
              </a:ext>
            </a:extLst>
          </p:cNvPr>
          <p:cNvSpPr>
            <a:spLocks noGrp="1"/>
          </p:cNvSpPr>
          <p:nvPr/>
        </p:nvSpPr>
        <p:spPr>
          <a:xfrm>
            <a:off x="1114425" y="2667000"/>
            <a:ext cx="404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Исключить неактивных</a:t>
            </a:r>
          </a:p>
        </p:txBody>
      </p:sp>
      <p:sp>
        <p:nv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859183B-20EF-4AA9-BC28-9966B958ACD0}"/>
              </a:ext>
            </a:extLst>
          </p:cNvPr>
          <p:cNvSpPr>
            <a:spLocks noGrp="1"/>
          </p:cNvSpPr>
          <p:nvPr/>
        </p:nvSpPr>
        <p:spPr>
          <a:xfrm>
            <a:off x="790575" y="2971800"/>
            <a:ext cx="0" cy="371475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61292A5F-C827-4BAB-86EF-EE670E242D5F}"/>
              </a:ext>
            </a:extLst>
          </p:cNvPr>
          <p:cNvSpPr>
            <a:spLocks noGrp="1"/>
          </p:cNvSpPr>
          <p:nvPr/>
        </p:nvSpPr>
        <p:spPr>
          <a:xfrm>
            <a:off x="628650" y="3438525"/>
            <a:ext cx="323850" cy="323850"/>
          </a:xfrm>
          <a:prstGeom prst="ellipse">
            <a:avLst/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88F42CC-BD56-4247-8141-2591B98BB3B2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133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D4763DA-EF4F-4E44-8A47-199F42213228}"/>
              </a:ext>
            </a:extLst>
          </p:cNvPr>
          <p:cNvSpPr>
            <a:spLocks noGrp="1"/>
          </p:cNvSpPr>
          <p:nvPr/>
        </p:nvSpPr>
        <p:spPr>
          <a:xfrm>
            <a:off x="1114425" y="3467100"/>
            <a:ext cx="404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Проверить правила и лимиты</a:t>
            </a:r>
          </a:p>
        </p:txBody>
      </p:sp>
      <p:sp>
        <p:nv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40CC0769-3084-4C82-A93A-76494D267095}"/>
              </a:ext>
            </a:extLst>
          </p:cNvPr>
          <p:cNvSpPr>
            <a:spLocks noGrp="1"/>
          </p:cNvSpPr>
          <p:nvPr/>
        </p:nvSpPr>
        <p:spPr>
          <a:xfrm>
            <a:off x="790575" y="3771900"/>
            <a:ext cx="0" cy="371475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8FDDDB99-9B77-4FDF-B8B5-5B6F6BDC5C42}"/>
              </a:ext>
            </a:extLst>
          </p:cNvPr>
          <p:cNvSpPr>
            <a:spLocks noGrp="1"/>
          </p:cNvSpPr>
          <p:nvPr/>
        </p:nvSpPr>
        <p:spPr>
          <a:xfrm>
            <a:off x="628650" y="4238625"/>
            <a:ext cx="323850" cy="323850"/>
          </a:xfrm>
          <a:prstGeom prst="ellipse">
            <a:avLst/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C5A0ACC-B8D2-46A0-B040-FFBF4A4F2D0B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133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7BA15AD-1866-4745-ABFD-AE866886D1EF}"/>
              </a:ext>
            </a:extLst>
          </p:cNvPr>
          <p:cNvSpPr>
            <a:spLocks noGrp="1"/>
          </p:cNvSpPr>
          <p:nvPr/>
        </p:nvSpPr>
        <p:spPr>
          <a:xfrm>
            <a:off x="1114425" y="4267200"/>
            <a:ext cx="4048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Сравнить score кандидатов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5E44E29E-E5AB-44FD-8FA7-E927E0F9A2AE}"/>
              </a:ext>
            </a:extLst>
          </p:cNvPr>
          <p:cNvSpPr>
            <a:spLocks noGrp="1"/>
          </p:cNvSpPr>
          <p:nvPr/>
        </p:nvSpPr>
        <p:spPr>
          <a:xfrm>
            <a:off x="590550" y="5219700"/>
            <a:ext cx="5048250" cy="723900"/>
          </a:xfrm>
          <a:prstGeom prst="roundRect">
            <a:avLst>
              <a:gd name="adj" fmla="val 21053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0C19E55-F7D5-4550-8B8E-0092DAFCE4C3}"/>
              </a:ext>
            </a:extLst>
          </p:cNvPr>
          <p:cNvSpPr>
            <a:spLocks noGrp="1"/>
          </p:cNvSpPr>
          <p:nvPr/>
        </p:nvSpPr>
        <p:spPr>
          <a:xfrm>
            <a:off x="771525" y="5381625"/>
            <a:ext cx="46863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α · open_weight / capacity + β · day_weight / limit − γ · bonus</a:t>
            </a:r>
          </a:p>
        </p:txBody>
      </p:sp>
      <p:pic>
        <p:nvPicPr>
          <p:cNvPr id="47" name="Рисунок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0750" y="2039711"/>
            <a:ext cx="5600700" cy="3673929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F200E6D-6BDE-4A44-90FB-AF8E409A09E1}"/>
              </a:ext>
            </a:extLst>
          </p:cNvPr>
          <p:cNvSpPr>
            <a:spLocks noGrp="1"/>
          </p:cNvSpPr>
          <p:nvPr/>
        </p:nvSpPr>
        <p:spPr>
          <a:xfrm>
            <a:off x="6086475" y="58864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412"/>
          </a:bodyPr>
          <a:lstStyle/>
          <a:p>
            <a:pPr algn="l">
              <a:defRPr sz="975" b="0">
                <a:solidFill>
                  <a:srgbClr val="B85B1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85B13"/>
                </a:solidFill>
                <a:latin typeface="Arial"/>
                <a:ea typeface="Arial"/>
                <a:cs typeface="Arial"/>
              </a:rPr>
              <a:t>Коэффициенты задаются в интерфейсе; fairness ±1–2% отдельно не подтверждался нагрузочным замером.</a:t>
            </a:r>
          </a:p>
        </p:txBody>
      </p:sp>
    </p:spTree>
    <p:extLst>
      <p:ext uri="{BB962C8B-B14F-4D97-AF65-F5344CB8AC3E}">
        <p14:creationId xmlns:p14="http://schemas.microsoft.com/office/powerpoint/2010/main" val="919292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E5C9A1D3-D8BA-4D76-81EB-03967D39564C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460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0C8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6C2CEAF0-9554-498D-BA4E-5CD3558F26C8}"/>
              </a:ext>
            </a:extLst>
          </p:cNvPr>
          <p:cNvSpPr>
            <a:spLocks noGrp="1"/>
          </p:cNvSpPr>
          <p:nvPr/>
        </p:nvSpPr>
        <p:spPr>
          <a:xfrm>
            <a:off x="11115675" y="371475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B1B48DF-BB17-4624-B8A5-A10899931100}"/>
              </a:ext>
            </a:extLst>
          </p:cNvPr>
          <p:cNvSpPr>
            <a:spLocks noGrp="1"/>
          </p:cNvSpPr>
          <p:nvPr/>
        </p:nvSpPr>
        <p:spPr>
          <a:xfrm>
            <a:off x="11515725" y="371475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DC99560-A72E-46B0-95D1-D4A11AD91A87}"/>
              </a:ext>
            </a:extLst>
          </p:cNvPr>
          <p:cNvSpPr>
            <a:spLocks noGrp="1"/>
          </p:cNvSpPr>
          <p:nvPr/>
        </p:nvSpPr>
        <p:spPr>
          <a:xfrm>
            <a:off x="11772900" y="371475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AF1B162-319E-4613-8876-B44012D03A3F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Архитектура обработки заявок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1EA5BC2-4736-4E68-A41D-863081FFC95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PostgreSQL хранит состояние; Redis Streams передает работу группе workers.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1B12C70-DDB5-4E80-BE2C-7A09CE8DF6E5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E3D17C1-52AC-45F0-A1AA-64C2EB862998}"/>
              </a:ext>
            </a:extLst>
          </p:cNvPr>
          <p:cNvSpPr>
            <a:spLocks noGrp="1"/>
          </p:cNvSpPr>
          <p:nvPr/>
        </p:nvSpPr>
        <p:spPr>
          <a:xfrm>
            <a:off x="11382375" y="65055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8CB1190-E219-4C08-B065-7D203632DF7F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22860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51B8EFF-0C22-4D30-904A-B5A757C1AFDF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47625" cy="876300"/>
          </a:xfrm>
          <a:prstGeom prst="roundRect">
            <a:avLst>
              <a:gd name="adj" fmla="val 4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B785575-576D-40C6-A5D0-E1FED8919458}"/>
              </a:ext>
            </a:extLst>
          </p:cNvPr>
          <p:cNvSpPr>
            <a:spLocks noGrp="1"/>
          </p:cNvSpPr>
          <p:nvPr/>
        </p:nvSpPr>
        <p:spPr>
          <a:xfrm>
            <a:off x="762000" y="2409825"/>
            <a:ext cx="2000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АИС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EEE231B-635C-48DD-8BD3-FF04B59604E0}"/>
              </a:ext>
            </a:extLst>
          </p:cNvPr>
          <p:cNvSpPr>
            <a:spLocks noGrp="1"/>
          </p:cNvSpPr>
          <p:nvPr/>
        </p:nvSpPr>
        <p:spPr>
          <a:xfrm>
            <a:off x="733425" y="2695575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заявка · webhook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DFD5190-0548-4120-882B-E3FC6A497012}"/>
              </a:ext>
            </a:extLst>
          </p:cNvPr>
          <p:cNvSpPr>
            <a:spLocks noGrp="1"/>
          </p:cNvSpPr>
          <p:nvPr/>
        </p:nvSpPr>
        <p:spPr>
          <a:xfrm>
            <a:off x="3238500" y="2286000"/>
            <a:ext cx="219075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E819C34-4327-4FDF-9369-70D226DC6A1B}"/>
              </a:ext>
            </a:extLst>
          </p:cNvPr>
          <p:cNvSpPr>
            <a:spLocks noGrp="1"/>
          </p:cNvSpPr>
          <p:nvPr/>
        </p:nvSpPr>
        <p:spPr>
          <a:xfrm>
            <a:off x="3238500" y="2286000"/>
            <a:ext cx="47625" cy="876300"/>
          </a:xfrm>
          <a:prstGeom prst="roundRect">
            <a:avLst>
              <a:gd name="adj" fmla="val 4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A837404-D77B-4DF7-AC23-A390CA7517E7}"/>
              </a:ext>
            </a:extLst>
          </p:cNvPr>
          <p:cNvSpPr>
            <a:spLocks noGrp="1"/>
          </p:cNvSpPr>
          <p:nvPr/>
        </p:nvSpPr>
        <p:spPr>
          <a:xfrm>
            <a:off x="3409950" y="2409825"/>
            <a:ext cx="1905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Balancer API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E087E60-FD17-4685-A815-F3FAE2BEF6BC}"/>
              </a:ext>
            </a:extLst>
          </p:cNvPr>
          <p:cNvSpPr>
            <a:spLocks noGrp="1"/>
          </p:cNvSpPr>
          <p:nvPr/>
        </p:nvSpPr>
        <p:spPr>
          <a:xfrm>
            <a:off x="3381375" y="2695575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проверка и прием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C2D7309-3C44-4934-8ECD-A208F2DC533E}"/>
              </a:ext>
            </a:extLst>
          </p:cNvPr>
          <p:cNvSpPr>
            <a:spLocks noGrp="1"/>
          </p:cNvSpPr>
          <p:nvPr/>
        </p:nvSpPr>
        <p:spPr>
          <a:xfrm>
            <a:off x="5791200" y="2286000"/>
            <a:ext cx="22860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54C801F-0F36-438F-A066-C800157F208A}"/>
              </a:ext>
            </a:extLst>
          </p:cNvPr>
          <p:cNvSpPr>
            <a:spLocks noGrp="1"/>
          </p:cNvSpPr>
          <p:nvPr/>
        </p:nvSpPr>
        <p:spPr>
          <a:xfrm>
            <a:off x="5791200" y="2286000"/>
            <a:ext cx="47625" cy="876300"/>
          </a:xfrm>
          <a:prstGeom prst="roundRect">
            <a:avLst>
              <a:gd name="adj" fmla="val 4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C3E2E75-7773-480E-852A-6A43B5530C5C}"/>
              </a:ext>
            </a:extLst>
          </p:cNvPr>
          <p:cNvSpPr>
            <a:spLocks noGrp="1"/>
          </p:cNvSpPr>
          <p:nvPr/>
        </p:nvSpPr>
        <p:spPr>
          <a:xfrm>
            <a:off x="5962650" y="2409825"/>
            <a:ext cx="2000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9531C15-C0B4-41C3-AD31-BC1DFE1CD681}"/>
              </a:ext>
            </a:extLst>
          </p:cNvPr>
          <p:cNvSpPr>
            <a:spLocks noGrp="1"/>
          </p:cNvSpPr>
          <p:nvPr/>
        </p:nvSpPr>
        <p:spPr>
          <a:xfrm>
            <a:off x="5934075" y="2695575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заявка + stream outbox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8A052DFB-616F-4B2A-998B-2C780A3CAE65}"/>
              </a:ext>
            </a:extLst>
          </p:cNvPr>
          <p:cNvSpPr>
            <a:spLocks noGrp="1"/>
          </p:cNvSpPr>
          <p:nvPr/>
        </p:nvSpPr>
        <p:spPr>
          <a:xfrm>
            <a:off x="8439150" y="2286000"/>
            <a:ext cx="314325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FF94BECB-9BE1-42A2-B0D0-A208BED129E1}"/>
              </a:ext>
            </a:extLst>
          </p:cNvPr>
          <p:cNvSpPr>
            <a:spLocks noGrp="1"/>
          </p:cNvSpPr>
          <p:nvPr/>
        </p:nvSpPr>
        <p:spPr>
          <a:xfrm>
            <a:off x="8439150" y="2286000"/>
            <a:ext cx="47625" cy="876300"/>
          </a:xfrm>
          <a:prstGeom prst="roundRect">
            <a:avLst>
              <a:gd name="adj" fmla="val 4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F73FE89-A67A-45A7-9EF4-D5C1AFAE3E50}"/>
              </a:ext>
            </a:extLst>
          </p:cNvPr>
          <p:cNvSpPr>
            <a:spLocks noGrp="1"/>
          </p:cNvSpPr>
          <p:nvPr/>
        </p:nvSpPr>
        <p:spPr>
          <a:xfrm>
            <a:off x="8610600" y="2409825"/>
            <a:ext cx="285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Stream producer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C02E9E4-34CA-4E48-92A8-C72BBD95338E}"/>
              </a:ext>
            </a:extLst>
          </p:cNvPr>
          <p:cNvSpPr>
            <a:spLocks noGrp="1"/>
          </p:cNvSpPr>
          <p:nvPr/>
        </p:nvSpPr>
        <p:spPr>
          <a:xfrm>
            <a:off x="8582025" y="2695575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публикует Redis event</a:t>
            </a:r>
          </a:p>
        </p:txBody>
      </p:sp>
      <p:sp>
        <p:nv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7D123B00-F0C7-43CA-A5B1-ADF7E00C0CE6}"/>
              </a:ext>
            </a:extLst>
          </p:cNvPr>
          <p:cNvSpPr>
            <a:spLocks noGrp="1"/>
          </p:cNvSpPr>
          <p:nvPr/>
        </p:nvSpPr>
        <p:spPr>
          <a:xfrm>
            <a:off x="2895600" y="2724150"/>
            <a:ext cx="304800" cy="0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1E18DFBB-EAB9-43F5-A726-3D9F391FE057}"/>
              </a:ext>
            </a:extLst>
          </p:cNvPr>
          <p:cNvSpPr>
            <a:spLocks noGrp="1"/>
          </p:cNvSpPr>
          <p:nvPr/>
        </p:nvSpPr>
        <p:spPr>
          <a:xfrm>
            <a:off x="3124200" y="2676525"/>
            <a:ext cx="76200" cy="47625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612C7910-2D01-4900-A3C5-62DD05F554FA}"/>
              </a:ext>
            </a:extLst>
          </p:cNvPr>
          <p:cNvSpPr>
            <a:spLocks noGrp="1"/>
          </p:cNvSpPr>
          <p:nvPr/>
        </p:nvSpPr>
        <p:spPr>
          <a:xfrm flipV="1">
            <a:off x="3124200" y="2724150"/>
            <a:ext cx="76200" cy="47625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10447D8A-302B-492D-B7CA-B6FCCC9785DE}"/>
              </a:ext>
            </a:extLst>
          </p:cNvPr>
          <p:cNvSpPr>
            <a:spLocks noGrp="1"/>
          </p:cNvSpPr>
          <p:nvPr/>
        </p:nvSpPr>
        <p:spPr>
          <a:xfrm>
            <a:off x="5448300" y="2724150"/>
            <a:ext cx="304800" cy="0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9FEDB180-25CF-41CE-872A-F71C067813E2}"/>
              </a:ext>
            </a:extLst>
          </p:cNvPr>
          <p:cNvSpPr>
            <a:spLocks noGrp="1"/>
          </p:cNvSpPr>
          <p:nvPr/>
        </p:nvSpPr>
        <p:spPr>
          <a:xfrm>
            <a:off x="5676900" y="2676525"/>
            <a:ext cx="76200" cy="47625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AF5E3C29-4311-477C-9029-B479BF35768B}"/>
              </a:ext>
            </a:extLst>
          </p:cNvPr>
          <p:cNvSpPr>
            <a:spLocks noGrp="1"/>
          </p:cNvSpPr>
          <p:nvPr/>
        </p:nvSpPr>
        <p:spPr>
          <a:xfrm flipV="1">
            <a:off x="5676900" y="2724150"/>
            <a:ext cx="76200" cy="47625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AF35C20C-FF2B-4500-ADF5-15610946A7DD}"/>
              </a:ext>
            </a:extLst>
          </p:cNvPr>
          <p:cNvSpPr>
            <a:spLocks noGrp="1"/>
          </p:cNvSpPr>
          <p:nvPr/>
        </p:nvSpPr>
        <p:spPr>
          <a:xfrm>
            <a:off x="8096250" y="2724150"/>
            <a:ext cx="304800" cy="0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C469EC4A-9977-4C80-8802-B485497FF610}"/>
              </a:ext>
            </a:extLst>
          </p:cNvPr>
          <p:cNvSpPr>
            <a:spLocks noGrp="1"/>
          </p:cNvSpPr>
          <p:nvPr/>
        </p:nvSpPr>
        <p:spPr>
          <a:xfrm>
            <a:off x="8324850" y="2676525"/>
            <a:ext cx="76200" cy="47625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7152D61E-B7BB-4CA3-BB5C-DB57C3BD2793}"/>
              </a:ext>
            </a:extLst>
          </p:cNvPr>
          <p:cNvSpPr>
            <a:spLocks noGrp="1"/>
          </p:cNvSpPr>
          <p:nvPr/>
        </p:nvSpPr>
        <p:spPr>
          <a:xfrm flipV="1">
            <a:off x="8324850" y="2724150"/>
            <a:ext cx="76200" cy="47625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6B7349FE-D4CE-43A8-8E6B-FA5D76D79504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200025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05280412-D816-43A1-AB2A-B5A981CE0835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47625" cy="876300"/>
          </a:xfrm>
          <a:prstGeom prst="roundRect">
            <a:avLst>
              <a:gd name="adj" fmla="val 4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77F3E08-8CAD-4A1A-83AB-3BDE5AB74656}"/>
              </a:ext>
            </a:extLst>
          </p:cNvPr>
          <p:cNvSpPr>
            <a:spLocks noGrp="1"/>
          </p:cNvSpPr>
          <p:nvPr/>
        </p:nvSpPr>
        <p:spPr>
          <a:xfrm>
            <a:off x="762000" y="4219575"/>
            <a:ext cx="1714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АИС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F3CA586-C2B5-437C-9280-5BD1726FBFE9}"/>
              </a:ext>
            </a:extLst>
          </p:cNvPr>
          <p:cNvSpPr>
            <a:spLocks noGrp="1"/>
          </p:cNvSpPr>
          <p:nvPr/>
        </p:nvSpPr>
        <p:spPr>
          <a:xfrm>
            <a:off x="733425" y="45053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callback / подтверждение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CE8E8B50-F804-436D-88EE-C9D400C11B2A}"/>
              </a:ext>
            </a:extLst>
          </p:cNvPr>
          <p:cNvSpPr>
            <a:spLocks noGrp="1"/>
          </p:cNvSpPr>
          <p:nvPr/>
        </p:nvSpPr>
        <p:spPr>
          <a:xfrm>
            <a:off x="2819400" y="4095750"/>
            <a:ext cx="200025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E0426C97-783A-470B-AEFD-79FDED1B14D0}"/>
              </a:ext>
            </a:extLst>
          </p:cNvPr>
          <p:cNvSpPr>
            <a:spLocks noGrp="1"/>
          </p:cNvSpPr>
          <p:nvPr/>
        </p:nvSpPr>
        <p:spPr>
          <a:xfrm>
            <a:off x="2819400" y="4095750"/>
            <a:ext cx="47625" cy="876300"/>
          </a:xfrm>
          <a:prstGeom prst="roundRect">
            <a:avLst>
              <a:gd name="adj" fmla="val 4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2E95FAE-4641-4312-8DCD-58B351540B08}"/>
              </a:ext>
            </a:extLst>
          </p:cNvPr>
          <p:cNvSpPr>
            <a:spLocks noGrp="1"/>
          </p:cNvSpPr>
          <p:nvPr/>
        </p:nvSpPr>
        <p:spPr>
          <a:xfrm>
            <a:off x="2990850" y="4219575"/>
            <a:ext cx="1714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Dispatcher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6862252-1C15-4522-B96C-7A50781E2E6F}"/>
              </a:ext>
            </a:extLst>
          </p:cNvPr>
          <p:cNvSpPr>
            <a:spLocks noGrp="1"/>
          </p:cNvSpPr>
          <p:nvPr/>
        </p:nvSpPr>
        <p:spPr>
          <a:xfrm>
            <a:off x="2962275" y="45053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доставка + повторы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DB783889-EF18-4D1F-8882-1225437695E0}"/>
              </a:ext>
            </a:extLst>
          </p:cNvPr>
          <p:cNvSpPr>
            <a:spLocks noGrp="1"/>
          </p:cNvSpPr>
          <p:nvPr/>
        </p:nvSpPr>
        <p:spPr>
          <a:xfrm>
            <a:off x="5048250" y="4095750"/>
            <a:ext cx="200025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5BC5DB5A-5DD0-459E-952B-8EBCF401946A}"/>
              </a:ext>
            </a:extLst>
          </p:cNvPr>
          <p:cNvSpPr>
            <a:spLocks noGrp="1"/>
          </p:cNvSpPr>
          <p:nvPr/>
        </p:nvSpPr>
        <p:spPr>
          <a:xfrm>
            <a:off x="5048250" y="4095750"/>
            <a:ext cx="47625" cy="876300"/>
          </a:xfrm>
          <a:prstGeom prst="roundRect">
            <a:avLst>
              <a:gd name="adj" fmla="val 4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7D8B4E91-B377-4691-8333-EB4BD0E560EB}"/>
              </a:ext>
            </a:extLst>
          </p:cNvPr>
          <p:cNvSpPr>
            <a:spLocks noGrp="1"/>
          </p:cNvSpPr>
          <p:nvPr/>
        </p:nvSpPr>
        <p:spPr>
          <a:xfrm>
            <a:off x="5219700" y="4219575"/>
            <a:ext cx="1714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1BCBCF04-9149-4624-852E-38A7BC851272}"/>
              </a:ext>
            </a:extLst>
          </p:cNvPr>
          <p:cNvSpPr>
            <a:spLocks noGrp="1"/>
          </p:cNvSpPr>
          <p:nvPr/>
        </p:nvSpPr>
        <p:spPr>
          <a:xfrm>
            <a:off x="5191125" y="45053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резерв + AIS outbox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D7FEBB13-A996-49CA-9723-841387C8D1B5}"/>
              </a:ext>
            </a:extLst>
          </p:cNvPr>
          <p:cNvSpPr>
            <a:spLocks noGrp="1"/>
          </p:cNvSpPr>
          <p:nvPr/>
        </p:nvSpPr>
        <p:spPr>
          <a:xfrm>
            <a:off x="7277100" y="4095750"/>
            <a:ext cx="2000250" cy="876300"/>
          </a:xfrm>
          <a:prstGeom prst="roundRect">
            <a:avLst>
              <a:gd name="adj" fmla="val 17391"/>
            </a:avLst>
          </a:prstGeom>
          <a:solidFill>
            <a:srgbClr val="131F2E"/>
          </a:solidFill>
          <a:ln w="9525">
            <a:noFill/>
            <a:prstDash val="solid"/>
          </a:ln>
        </p:spPr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C31F678F-4851-47C2-88E7-68403CB65495}"/>
              </a:ext>
            </a:extLst>
          </p:cNvPr>
          <p:cNvSpPr>
            <a:spLocks noGrp="1"/>
          </p:cNvSpPr>
          <p:nvPr/>
        </p:nvSpPr>
        <p:spPr>
          <a:xfrm>
            <a:off x="7277100" y="4095750"/>
            <a:ext cx="47625" cy="876300"/>
          </a:xfrm>
          <a:prstGeom prst="roundRect">
            <a:avLst>
              <a:gd name="adj" fmla="val 4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F98DE131-3AEC-46A2-AAF9-5DA1EE680117}"/>
              </a:ext>
            </a:extLst>
          </p:cNvPr>
          <p:cNvSpPr>
            <a:spLocks noGrp="1"/>
          </p:cNvSpPr>
          <p:nvPr/>
        </p:nvSpPr>
        <p:spPr>
          <a:xfrm>
            <a:off x="7448550" y="4219575"/>
            <a:ext cx="1714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Workers × N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F92E5CED-4B82-422D-972A-9D1B47EFDFBC}"/>
              </a:ext>
            </a:extLst>
          </p:cNvPr>
          <p:cNvSpPr>
            <a:spLocks noGrp="1"/>
          </p:cNvSpPr>
          <p:nvPr/>
        </p:nvSpPr>
        <p:spPr>
          <a:xfrm>
            <a:off x="7419975" y="4505325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D3DCE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3DCEA"/>
                </a:solidFill>
                <a:latin typeface="Arial"/>
                <a:ea typeface="Arial"/>
                <a:cs typeface="Arial"/>
              </a:rPr>
              <a:t>подбор + транзакция</a:t>
            </a: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99B0D166-E0FB-4B67-A151-91B1455248D9}"/>
              </a:ext>
            </a:extLst>
          </p:cNvPr>
          <p:cNvSpPr>
            <a:spLocks noGrp="1"/>
          </p:cNvSpPr>
          <p:nvPr/>
        </p:nvSpPr>
        <p:spPr>
          <a:xfrm>
            <a:off x="9505950" y="4095750"/>
            <a:ext cx="2076450" cy="876300"/>
          </a:xfrm>
          <a:prstGeom prst="roundRect">
            <a:avLst>
              <a:gd name="adj" fmla="val 17391"/>
            </a:avLst>
          </a:prstGeom>
          <a:solidFill>
            <a:srgbClr val="102D63"/>
          </a:solidFill>
          <a:ln w="9525">
            <a:noFill/>
            <a:prstDash val="solid"/>
          </a:ln>
        </p:spPr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2947AB29-539F-41FC-B191-C712833F9625}"/>
              </a:ext>
            </a:extLst>
          </p:cNvPr>
          <p:cNvSpPr>
            <a:spLocks noGrp="1"/>
          </p:cNvSpPr>
          <p:nvPr/>
        </p:nvSpPr>
        <p:spPr>
          <a:xfrm>
            <a:off x="9505950" y="4095750"/>
            <a:ext cx="47625" cy="876300"/>
          </a:xfrm>
          <a:prstGeom prst="roundRect">
            <a:avLst>
              <a:gd name="adj" fmla="val 4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E7D28712-CB9F-4F60-8F21-A9758236D3FB}"/>
              </a:ext>
            </a:extLst>
          </p:cNvPr>
          <p:cNvSpPr>
            <a:spLocks noGrp="1"/>
          </p:cNvSpPr>
          <p:nvPr/>
        </p:nvSpPr>
        <p:spPr>
          <a:xfrm>
            <a:off x="9677400" y="4219575"/>
            <a:ext cx="17907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Redis Streams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F599F524-5B16-40BE-90E3-8112AA865394}"/>
              </a:ext>
            </a:extLst>
          </p:cNvPr>
          <p:cNvSpPr>
            <a:spLocks noGrp="1"/>
          </p:cNvSpPr>
          <p:nvPr/>
        </p:nvSpPr>
        <p:spPr>
          <a:xfrm>
            <a:off x="9648825" y="4505325"/>
            <a:ext cx="1847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D3DCE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3DCEA"/>
                </a:solidFill>
                <a:latin typeface="Arial"/>
                <a:ea typeface="Arial"/>
                <a:cs typeface="Arial"/>
              </a:rPr>
              <a:t>consumer group</a:t>
            </a:r>
          </a:p>
        </p:txBody>
      </p:sp>
      <p:sp>
        <p:nv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AB52DB0E-0903-478B-9B5C-DFBE762BCE08}"/>
              </a:ext>
            </a:extLst>
          </p:cNvPr>
          <p:cNvSpPr>
            <a:spLocks noGrp="1"/>
          </p:cNvSpPr>
          <p:nvPr/>
        </p:nvSpPr>
        <p:spPr>
          <a:xfrm>
            <a:off x="10001250" y="3181350"/>
            <a:ext cx="523875" cy="876300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E9A717BB-59D5-4C79-BB01-EFF78BD353A2}"/>
              </a:ext>
            </a:extLst>
          </p:cNvPr>
          <p:cNvSpPr>
            <a:spLocks noGrp="1"/>
          </p:cNvSpPr>
          <p:nvPr/>
        </p:nvSpPr>
        <p:spPr>
          <a:xfrm>
            <a:off x="10477500" y="3981450"/>
            <a:ext cx="47625" cy="76200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3FD4B064-842F-43E6-B603-FF553DE8C6DE}"/>
              </a:ext>
            </a:extLst>
          </p:cNvPr>
          <p:cNvSpPr>
            <a:spLocks noGrp="1"/>
          </p:cNvSpPr>
          <p:nvPr/>
        </p:nvSpPr>
        <p:spPr>
          <a:xfrm flipV="1">
            <a:off x="10525125" y="3981450"/>
            <a:ext cx="47625" cy="76200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17E6AB54-FF59-424E-B7AD-8E5BEF1DD5B2}"/>
              </a:ext>
            </a:extLst>
          </p:cNvPr>
          <p:cNvSpPr>
            <a:spLocks noGrp="1"/>
          </p:cNvSpPr>
          <p:nvPr/>
        </p:nvSpPr>
        <p:spPr>
          <a:xfrm>
            <a:off x="9315450" y="4533900"/>
            <a:ext cx="152400" cy="0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3DD0182B-6B5A-4EDA-A910-85165798B079}"/>
              </a:ext>
            </a:extLst>
          </p:cNvPr>
          <p:cNvSpPr>
            <a:spLocks noGrp="1"/>
          </p:cNvSpPr>
          <p:nvPr/>
        </p:nvSpPr>
        <p:spPr>
          <a:xfrm flipV="1">
            <a:off x="9315450" y="4486275"/>
            <a:ext cx="76200" cy="47625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990F82B5-7593-4986-9A8E-C8B4A6437994}"/>
              </a:ext>
            </a:extLst>
          </p:cNvPr>
          <p:cNvSpPr>
            <a:spLocks noGrp="1"/>
          </p:cNvSpPr>
          <p:nvPr/>
        </p:nvSpPr>
        <p:spPr>
          <a:xfrm>
            <a:off x="9315450" y="4533900"/>
            <a:ext cx="76200" cy="47625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80F474BC-A9A0-4C3D-8CD1-7D5BE20480E7}"/>
              </a:ext>
            </a:extLst>
          </p:cNvPr>
          <p:cNvSpPr>
            <a:spLocks noGrp="1"/>
          </p:cNvSpPr>
          <p:nvPr/>
        </p:nvSpPr>
        <p:spPr>
          <a:xfrm>
            <a:off x="7086600" y="4533900"/>
            <a:ext cx="152400" cy="0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3FEE2652-BE1D-44D5-A6A1-F489C9967397}"/>
              </a:ext>
            </a:extLst>
          </p:cNvPr>
          <p:cNvSpPr>
            <a:spLocks noGrp="1"/>
          </p:cNvSpPr>
          <p:nvPr/>
        </p:nvSpPr>
        <p:spPr>
          <a:xfrm flipV="1">
            <a:off x="7086600" y="4486275"/>
            <a:ext cx="76200" cy="47625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88D3E5A-4DE0-4309-8F25-C0F7C6FDFEDA}"/>
              </a:ext>
            </a:extLst>
          </p:cNvPr>
          <p:cNvSpPr>
            <a:spLocks noGrp="1"/>
          </p:cNvSpPr>
          <p:nvPr/>
        </p:nvSpPr>
        <p:spPr>
          <a:xfrm>
            <a:off x="7086600" y="4533900"/>
            <a:ext cx="76200" cy="47625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0A923C70-0F33-4871-BBF5-BDF0DE1E7484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152400" cy="0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9A283141-33FC-413F-88D5-C1CD050CC98D}"/>
              </a:ext>
            </a:extLst>
          </p:cNvPr>
          <p:cNvSpPr>
            <a:spLocks noGrp="1"/>
          </p:cNvSpPr>
          <p:nvPr/>
        </p:nvSpPr>
        <p:spPr>
          <a:xfrm flipV="1">
            <a:off x="4857750" y="4486275"/>
            <a:ext cx="76200" cy="47625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D2064319-F226-4329-A836-3F3BE4A67A46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76200" cy="47625"/>
          </a:xfrm>
          <a:prstGeom prst="line">
            <a:avLst/>
          </a:prstGeom>
          <a:noFill/>
          <a:ln w="23813">
            <a:solidFill>
              <a:srgbClr val="2460C8"/>
            </a:solidFill>
            <a:prstDash val="solid"/>
          </a:ln>
        </p:spPr>
      </p:sp>
      <p:sp>
        <p:nv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4DB07E3E-AA1C-484D-BDE1-1234BD62A5E0}"/>
              </a:ext>
            </a:extLst>
          </p:cNvPr>
          <p:cNvSpPr>
            <a:spLocks noGrp="1"/>
          </p:cNvSpPr>
          <p:nvPr/>
        </p:nvSpPr>
        <p:spPr>
          <a:xfrm>
            <a:off x="2628900" y="4533900"/>
            <a:ext cx="152400" cy="0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E4788AC2-481E-486C-8FDB-33798F96C829}"/>
              </a:ext>
            </a:extLst>
          </p:cNvPr>
          <p:cNvSpPr>
            <a:spLocks noGrp="1"/>
          </p:cNvSpPr>
          <p:nvPr/>
        </p:nvSpPr>
        <p:spPr>
          <a:xfrm flipV="1">
            <a:off x="2628900" y="4486275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DCAA5239-BEDE-42A6-B836-3ED0C1DF4F72}"/>
              </a:ext>
            </a:extLst>
          </p:cNvPr>
          <p:cNvSpPr>
            <a:spLocks noGrp="1"/>
          </p:cNvSpPr>
          <p:nvPr/>
        </p:nvSpPr>
        <p:spPr>
          <a:xfrm>
            <a:off x="2628900" y="4533900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E8E2F7E0-970B-478D-8006-E3F9DB00BCC6}"/>
              </a:ext>
            </a:extLst>
          </p:cNvPr>
          <p:cNvSpPr>
            <a:spLocks noGrp="1"/>
          </p:cNvSpPr>
          <p:nvPr/>
        </p:nvSpPr>
        <p:spPr>
          <a:xfrm>
            <a:off x="590550" y="5276850"/>
            <a:ext cx="11010900" cy="685800"/>
          </a:xfrm>
          <a:prstGeom prst="roundRect">
            <a:avLst>
              <a:gd name="adj" fmla="val 25000"/>
            </a:avLst>
          </a:prstGeom>
          <a:solidFill>
            <a:srgbClr val="E8EFFB"/>
          </a:solidFill>
          <a:ln w="0">
            <a:noFill/>
            <a:prstDash val="solid"/>
          </a:ln>
        </p:spPr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E6DC228B-C0EA-480B-B6F6-2F86E8953DF6}"/>
              </a:ext>
            </a:extLst>
          </p:cNvPr>
          <p:cNvSpPr>
            <a:spLocks noGrp="1"/>
          </p:cNvSpPr>
          <p:nvPr/>
        </p:nvSpPr>
        <p:spPr>
          <a:xfrm>
            <a:off x="819150" y="5476875"/>
            <a:ext cx="10534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FOR UPDATE + транзакция защищают лимит; XACK / XAUTOCLAIM и idempotency позволяют безопасно восстановить доставку.</a:t>
            </a:r>
          </a:p>
        </p:txBody>
      </p:sp>
    </p:spTree>
    <p:extLst>
      <p:ext uri="{BB962C8B-B14F-4D97-AF65-F5344CB8AC3E}">
        <p14:creationId xmlns:p14="http://schemas.microsoft.com/office/powerpoint/2010/main" val="89876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454DDA76-8F1B-42F3-8A26-35A0B5656696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460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0C8"/>
                </a:solidFill>
                <a:latin typeface="Arial"/>
                <a:ea typeface="Arial"/>
                <a:cs typeface="Arial"/>
              </a:rPr>
              <a:t>ПОДТВЕРЖДЕНИЕ И ПОВТОРЫ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8C10A8BA-08E5-4116-9811-329A6058B8BF}"/>
              </a:ext>
            </a:extLst>
          </p:cNvPr>
          <p:cNvSpPr>
            <a:spLocks noGrp="1"/>
          </p:cNvSpPr>
          <p:nvPr/>
        </p:nvSpPr>
        <p:spPr>
          <a:xfrm>
            <a:off x="11115675" y="371475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B5D0DBEC-3A00-451D-8989-B2E515F10173}"/>
              </a:ext>
            </a:extLst>
          </p:cNvPr>
          <p:cNvSpPr>
            <a:spLocks noGrp="1"/>
          </p:cNvSpPr>
          <p:nvPr/>
        </p:nvSpPr>
        <p:spPr>
          <a:xfrm>
            <a:off x="11515725" y="371475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57912C8-954D-4BFE-989B-F01C18F08773}"/>
              </a:ext>
            </a:extLst>
          </p:cNvPr>
          <p:cNvSpPr>
            <a:spLocks noGrp="1"/>
          </p:cNvSpPr>
          <p:nvPr/>
        </p:nvSpPr>
        <p:spPr>
          <a:xfrm>
            <a:off x="11772900" y="371475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84C550F-37A3-45F8-A1A6-761E6CE6D929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Доставка в АИС переживает временные сбои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1612CF0-62FE-410D-9B67-E82DA1504884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Решение о назначении и факт подтверждения — два разных события.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73384A1-DD02-40EB-8619-947D64CE5CDB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544F23B-E718-4CDE-9AF3-320E3B3061F6}"/>
              </a:ext>
            </a:extLst>
          </p:cNvPr>
          <p:cNvSpPr>
            <a:spLocks noGrp="1"/>
          </p:cNvSpPr>
          <p:nvPr/>
        </p:nvSpPr>
        <p:spPr>
          <a:xfrm>
            <a:off x="11382375" y="65055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7D246B1-366A-40B3-BDFB-EB022773C2CB}"/>
              </a:ext>
            </a:extLst>
          </p:cNvPr>
          <p:cNvSpPr>
            <a:spLocks noGrp="1"/>
          </p:cNvSpPr>
          <p:nvPr/>
        </p:nvSpPr>
        <p:spPr>
          <a:xfrm>
            <a:off x="933450" y="2066925"/>
            <a:ext cx="495300" cy="495300"/>
          </a:xfrm>
          <a:prstGeom prst="ellipse">
            <a:avLst/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3924C3-E20D-4260-8DC8-994599E0D42A}"/>
              </a:ext>
            </a:extLst>
          </p:cNvPr>
          <p:cNvSpPr>
            <a:spLocks noGrp="1"/>
          </p:cNvSpPr>
          <p:nvPr/>
        </p:nvSpPr>
        <p:spPr>
          <a:xfrm>
            <a:off x="1095375" y="2209800"/>
            <a:ext cx="1809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F7374D3-336A-46A8-8E86-CEE12B04E393}"/>
              </a:ext>
            </a:extLst>
          </p:cNvPr>
          <p:cNvSpPr>
            <a:spLocks noGrp="1"/>
          </p:cNvSpPr>
          <p:nvPr/>
        </p:nvSpPr>
        <p:spPr>
          <a:xfrm>
            <a:off x="704850" y="27622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Назначили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AC4E6B2-E1C6-4484-8252-E144202E0D55}"/>
              </a:ext>
            </a:extLst>
          </p:cNvPr>
          <p:cNvSpPr>
            <a:spLocks noGrp="1"/>
          </p:cNvSpPr>
          <p:nvPr/>
        </p:nvSpPr>
        <p:spPr>
          <a:xfrm>
            <a:off x="704850" y="3133725"/>
            <a:ext cx="161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worker выбрал и зарезервировал</a:t>
            </a:r>
          </a:p>
        </p:txBody>
      </p:sp>
      <p:sp>
        <p:nv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A66CB1-0044-40F7-8A0C-DAA1986F4247}"/>
              </a:ext>
            </a:extLst>
          </p:cNvPr>
          <p:cNvSpPr>
            <a:spLocks noGrp="1"/>
          </p:cNvSpPr>
          <p:nvPr/>
        </p:nvSpPr>
        <p:spPr>
          <a:xfrm>
            <a:off x="1704975" y="2314575"/>
            <a:ext cx="1047750" cy="0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629C5CB-FDBC-403F-BB82-15A2ECC2B9D0}"/>
              </a:ext>
            </a:extLst>
          </p:cNvPr>
          <p:cNvSpPr>
            <a:spLocks noGrp="1"/>
          </p:cNvSpPr>
          <p:nvPr/>
        </p:nvSpPr>
        <p:spPr>
          <a:xfrm>
            <a:off x="2676525" y="2266950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CDB91D6D-2325-4C34-AC8D-4D35569C93F6}"/>
              </a:ext>
            </a:extLst>
          </p:cNvPr>
          <p:cNvSpPr>
            <a:spLocks noGrp="1"/>
          </p:cNvSpPr>
          <p:nvPr/>
        </p:nvSpPr>
        <p:spPr>
          <a:xfrm flipV="1">
            <a:off x="2676525" y="2314575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CB6303B0-1BBD-4A9F-8FBB-21A5629D928B}"/>
              </a:ext>
            </a:extLst>
          </p:cNvPr>
          <p:cNvSpPr>
            <a:spLocks noGrp="1"/>
          </p:cNvSpPr>
          <p:nvPr/>
        </p:nvSpPr>
        <p:spPr>
          <a:xfrm>
            <a:off x="3048000" y="2066925"/>
            <a:ext cx="495300" cy="495300"/>
          </a:xfrm>
          <a:prstGeom prst="ellipse">
            <a:avLst/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5889681-0F86-4CDF-B836-576A533C8C1D}"/>
              </a:ext>
            </a:extLst>
          </p:cNvPr>
          <p:cNvSpPr>
            <a:spLocks noGrp="1"/>
          </p:cNvSpPr>
          <p:nvPr/>
        </p:nvSpPr>
        <p:spPr>
          <a:xfrm>
            <a:off x="3209925" y="2209800"/>
            <a:ext cx="1809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E16C232-E2CD-42BB-AC26-0D6625F3918E}"/>
              </a:ext>
            </a:extLst>
          </p:cNvPr>
          <p:cNvSpPr>
            <a:spLocks noGrp="1"/>
          </p:cNvSpPr>
          <p:nvPr/>
        </p:nvSpPr>
        <p:spPr>
          <a:xfrm>
            <a:off x="2819400" y="27622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Записали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64B54B1-5C14-439B-9D5D-069658D56241}"/>
              </a:ext>
            </a:extLst>
          </p:cNvPr>
          <p:cNvSpPr>
            <a:spLocks noGrp="1"/>
          </p:cNvSpPr>
          <p:nvPr/>
        </p:nvSpPr>
        <p:spPr>
          <a:xfrm>
            <a:off x="2819400" y="3133725"/>
            <a:ext cx="161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outbox в PostgreSQL</a:t>
            </a:r>
          </a:p>
        </p:txBody>
      </p:sp>
      <p:sp>
        <p:nv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56DAC2D4-4AEB-4090-AADF-37C4B1B7E242}"/>
              </a:ext>
            </a:extLst>
          </p:cNvPr>
          <p:cNvSpPr>
            <a:spLocks noGrp="1"/>
          </p:cNvSpPr>
          <p:nvPr/>
        </p:nvSpPr>
        <p:spPr>
          <a:xfrm>
            <a:off x="3819525" y="2314575"/>
            <a:ext cx="1047750" cy="0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7F61897E-6217-4752-90AC-5C4210C97CA9}"/>
              </a:ext>
            </a:extLst>
          </p:cNvPr>
          <p:cNvSpPr>
            <a:spLocks noGrp="1"/>
          </p:cNvSpPr>
          <p:nvPr/>
        </p:nvSpPr>
        <p:spPr>
          <a:xfrm>
            <a:off x="4791075" y="2266950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B511A4F1-39D2-4F50-A2C4-37F1CCEB09FA}"/>
              </a:ext>
            </a:extLst>
          </p:cNvPr>
          <p:cNvSpPr>
            <a:spLocks noGrp="1"/>
          </p:cNvSpPr>
          <p:nvPr/>
        </p:nvSpPr>
        <p:spPr>
          <a:xfrm flipV="1">
            <a:off x="4791075" y="2314575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3A92E715-1140-408F-9B22-2E99F4380376}"/>
              </a:ext>
            </a:extLst>
          </p:cNvPr>
          <p:cNvSpPr>
            <a:spLocks noGrp="1"/>
          </p:cNvSpPr>
          <p:nvPr/>
        </p:nvSpPr>
        <p:spPr>
          <a:xfrm>
            <a:off x="5162550" y="2066925"/>
            <a:ext cx="495300" cy="495300"/>
          </a:xfrm>
          <a:prstGeom prst="ellipse">
            <a:avLst/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8CC63D8-6462-409B-B1BB-3E265DF8EE82}"/>
              </a:ext>
            </a:extLst>
          </p:cNvPr>
          <p:cNvSpPr>
            <a:spLocks noGrp="1"/>
          </p:cNvSpPr>
          <p:nvPr/>
        </p:nvSpPr>
        <p:spPr>
          <a:xfrm>
            <a:off x="5324475" y="2209800"/>
            <a:ext cx="1809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E6CD250-22DB-4CE6-BE32-652465FF4DBF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Отправили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8E7D2A0-7063-44D2-968A-B44575FA1C59}"/>
              </a:ext>
            </a:extLst>
          </p:cNvPr>
          <p:cNvSpPr>
            <a:spLocks noGrp="1"/>
          </p:cNvSpPr>
          <p:nvPr/>
        </p:nvSpPr>
        <p:spPr>
          <a:xfrm>
            <a:off x="4933950" y="3133725"/>
            <a:ext cx="161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dispatcher + idempotency key</a:t>
            </a:r>
          </a:p>
        </p:txBody>
      </p:sp>
      <p:sp>
        <p:nv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6F668D19-B7AE-449A-A25D-4A4AD2B14B5C}"/>
              </a:ext>
            </a:extLst>
          </p:cNvPr>
          <p:cNvSpPr>
            <a:spLocks noGrp="1"/>
          </p:cNvSpPr>
          <p:nvPr/>
        </p:nvSpPr>
        <p:spPr>
          <a:xfrm>
            <a:off x="5934075" y="2314575"/>
            <a:ext cx="1047750" cy="0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FD133341-7ABA-4959-8384-7F9BEB900977}"/>
              </a:ext>
            </a:extLst>
          </p:cNvPr>
          <p:cNvSpPr>
            <a:spLocks noGrp="1"/>
          </p:cNvSpPr>
          <p:nvPr/>
        </p:nvSpPr>
        <p:spPr>
          <a:xfrm>
            <a:off x="6905625" y="2266950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B2DDAEE-B01D-4C65-9390-876FB71B4363}"/>
              </a:ext>
            </a:extLst>
          </p:cNvPr>
          <p:cNvSpPr>
            <a:spLocks noGrp="1"/>
          </p:cNvSpPr>
          <p:nvPr/>
        </p:nvSpPr>
        <p:spPr>
          <a:xfrm flipV="1">
            <a:off x="6905625" y="2314575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5621E722-5CE8-4C80-96F8-C850E62405C9}"/>
              </a:ext>
            </a:extLst>
          </p:cNvPr>
          <p:cNvSpPr>
            <a:spLocks noGrp="1"/>
          </p:cNvSpPr>
          <p:nvPr/>
        </p:nvSpPr>
        <p:spPr>
          <a:xfrm>
            <a:off x="7277100" y="2066925"/>
            <a:ext cx="495300" cy="495300"/>
          </a:xfrm>
          <a:prstGeom prst="ellipse">
            <a:avLst/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547FBDD-963E-4630-9B1A-4EEF2A5F8F86}"/>
              </a:ext>
            </a:extLst>
          </p:cNvPr>
          <p:cNvSpPr>
            <a:spLocks noGrp="1"/>
          </p:cNvSpPr>
          <p:nvPr/>
        </p:nvSpPr>
        <p:spPr>
          <a:xfrm>
            <a:off x="7439025" y="2209800"/>
            <a:ext cx="1809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DF8BF75-3D04-47F3-AA8F-20B62A02FF64}"/>
              </a:ext>
            </a:extLst>
          </p:cNvPr>
          <p:cNvSpPr>
            <a:spLocks noGrp="1"/>
          </p:cNvSpPr>
          <p:nvPr/>
        </p:nvSpPr>
        <p:spPr>
          <a:xfrm>
            <a:off x="7048500" y="27622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Подтвердили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8ADEC15-2E04-4D63-B05F-2CD73D1612DD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161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callback через 2–10 c</a:t>
            </a:r>
          </a:p>
        </p:txBody>
      </p:sp>
      <p:sp>
        <p:nv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DAB2B273-781A-4AC9-91E6-414A96D77984}"/>
              </a:ext>
            </a:extLst>
          </p:cNvPr>
          <p:cNvSpPr>
            <a:spLocks noGrp="1"/>
          </p:cNvSpPr>
          <p:nvPr/>
        </p:nvSpPr>
        <p:spPr>
          <a:xfrm>
            <a:off x="8048625" y="2314575"/>
            <a:ext cx="1047750" cy="0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92CB8D3C-DA0A-48C2-B19E-9F141CAEBC1C}"/>
              </a:ext>
            </a:extLst>
          </p:cNvPr>
          <p:cNvSpPr>
            <a:spLocks noGrp="1"/>
          </p:cNvSpPr>
          <p:nvPr/>
        </p:nvSpPr>
        <p:spPr>
          <a:xfrm>
            <a:off x="9020175" y="2266950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BEDE57EA-12AD-43B3-8E60-40F2D8DD9B16}"/>
              </a:ext>
            </a:extLst>
          </p:cNvPr>
          <p:cNvSpPr>
            <a:spLocks noGrp="1"/>
          </p:cNvSpPr>
          <p:nvPr/>
        </p:nvSpPr>
        <p:spPr>
          <a:xfrm flipV="1">
            <a:off x="9020175" y="2314575"/>
            <a:ext cx="76200" cy="47625"/>
          </a:xfrm>
          <a:prstGeom prst="line">
            <a:avLst/>
          </a:prstGeom>
          <a:noFill/>
          <a:ln w="23813">
            <a:solidFill>
              <a:srgbClr val="EE651B"/>
            </a:solidFill>
            <a:prstDash val="solid"/>
          </a:ln>
        </p:spPr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F596F04E-73D9-4F72-B9DB-BF7B4C0623F5}"/>
              </a:ext>
            </a:extLst>
          </p:cNvPr>
          <p:cNvSpPr>
            <a:spLocks noGrp="1"/>
          </p:cNvSpPr>
          <p:nvPr/>
        </p:nvSpPr>
        <p:spPr>
          <a:xfrm>
            <a:off x="9391650" y="2066925"/>
            <a:ext cx="495300" cy="495300"/>
          </a:xfrm>
          <a:prstGeom prst="ellipse">
            <a:avLst/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CDCE88E6-87A0-4D54-90F8-46608971EDED}"/>
              </a:ext>
            </a:extLst>
          </p:cNvPr>
          <p:cNvSpPr>
            <a:spLocks noGrp="1"/>
          </p:cNvSpPr>
          <p:nvPr/>
        </p:nvSpPr>
        <p:spPr>
          <a:xfrm>
            <a:off x="9553575" y="2209800"/>
            <a:ext cx="1809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ED1A53C3-9465-4555-9AAE-C7D8D75FEF19}"/>
              </a:ext>
            </a:extLst>
          </p:cNvPr>
          <p:cNvSpPr>
            <a:spLocks noGrp="1"/>
          </p:cNvSpPr>
          <p:nvPr/>
        </p:nvSpPr>
        <p:spPr>
          <a:xfrm>
            <a:off x="9163050" y="27622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Проверили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3BDBC6B-7ABC-4A32-9DAD-C32C1BF58AA6}"/>
              </a:ext>
            </a:extLst>
          </p:cNvPr>
          <p:cNvSpPr>
            <a:spLocks noGrp="1"/>
          </p:cNvSpPr>
          <p:nvPr/>
        </p:nvSpPr>
        <p:spPr>
          <a:xfrm>
            <a:off x="9163050" y="3133725"/>
            <a:ext cx="1619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метрика + аудит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A705B43-5F86-4A18-9C54-A319DF5BF954}"/>
              </a:ext>
            </a:extLst>
          </p:cNvPr>
          <p:cNvSpPr>
            <a:spLocks noGrp="1"/>
          </p:cNvSpPr>
          <p:nvPr/>
        </p:nvSpPr>
        <p:spPr>
          <a:xfrm>
            <a:off x="2381250" y="4229100"/>
            <a:ext cx="7429500" cy="1104900"/>
          </a:xfrm>
          <a:prstGeom prst="roundRect">
            <a:avLst>
              <a:gd name="adj" fmla="val 15517"/>
            </a:avLst>
          </a:prstGeom>
          <a:solidFill>
            <a:srgbClr val="FFF0E4"/>
          </a:solidFill>
          <a:ln w="9525">
            <a:solidFill>
              <a:srgbClr val="F1D4BB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A72D740-D137-4DB9-B422-DBCEF12814ED}"/>
              </a:ext>
            </a:extLst>
          </p:cNvPr>
          <p:cNvSpPr>
            <a:spLocks noGrp="1"/>
          </p:cNvSpPr>
          <p:nvPr/>
        </p:nvSpPr>
        <p:spPr>
          <a:xfrm>
            <a:off x="2667000" y="4429125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B85B1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B13"/>
                </a:solidFill>
                <a:latin typeface="Arial"/>
                <a:ea typeface="Arial"/>
                <a:cs typeface="Arial"/>
              </a:rPr>
              <a:t>Если подтверждение не приходит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D1015E02-EA98-4CC2-9E7D-6C506CF53DD0}"/>
              </a:ext>
            </a:extLst>
          </p:cNvPr>
          <p:cNvSpPr>
            <a:spLocks noGrp="1"/>
          </p:cNvSpPr>
          <p:nvPr/>
        </p:nvSpPr>
        <p:spPr>
          <a:xfrm>
            <a:off x="2667000" y="48196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повторы → DLQ после исчерпания попыток → ручной retry после проверки причины</a:t>
            </a:r>
          </a:p>
        </p:txBody>
      </p:sp>
    </p:spTree>
    <p:extLst>
      <p:ext uri="{BB962C8B-B14F-4D97-AF65-F5344CB8AC3E}">
        <p14:creationId xmlns:p14="http://schemas.microsoft.com/office/powerpoint/2010/main" val="145228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A9A4E17-2FBF-4D79-B84D-3C5D983B171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460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0C8"/>
                </a:solidFill>
                <a:latin typeface="Arial"/>
                <a:ea typeface="Arial"/>
                <a:cs typeface="Arial"/>
              </a:rPr>
              <a:t>ФАКТИЧЕСКИЙ СОСТАВ ПРОЕКТА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8A84D557-C6CD-47DF-BC75-21F3F4D17216}"/>
              </a:ext>
            </a:extLst>
          </p:cNvPr>
          <p:cNvSpPr>
            <a:spLocks noGrp="1"/>
          </p:cNvSpPr>
          <p:nvPr/>
        </p:nvSpPr>
        <p:spPr>
          <a:xfrm>
            <a:off x="11115675" y="371475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BC19F57-33E6-4534-B8C0-492E182CE5BA}"/>
              </a:ext>
            </a:extLst>
          </p:cNvPr>
          <p:cNvSpPr>
            <a:spLocks noGrp="1"/>
          </p:cNvSpPr>
          <p:nvPr/>
        </p:nvSpPr>
        <p:spPr>
          <a:xfrm>
            <a:off x="11515725" y="371475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7EAF462-456B-4102-8193-35988DDA9528}"/>
              </a:ext>
            </a:extLst>
          </p:cNvPr>
          <p:cNvSpPr>
            <a:spLocks noGrp="1"/>
          </p:cNvSpPr>
          <p:nvPr/>
        </p:nvSpPr>
        <p:spPr>
          <a:xfrm>
            <a:off x="11772900" y="371475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E8242CC-CBD2-48C7-A08A-6F8FA26B0E82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Технологический стек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C072370-6506-4ADE-A013-0513A3E32D3B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Основные сервисы запускаются через Docker Compose; нагрузочные и мониторинговые компоненты включаются отдельно.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5E0B602-30A3-4263-9AF4-BB1B4AAF9EB0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4057EAA-5812-4D56-8813-81DE09A36A54}"/>
              </a:ext>
            </a:extLst>
          </p:cNvPr>
          <p:cNvSpPr>
            <a:spLocks noGrp="1"/>
          </p:cNvSpPr>
          <p:nvPr/>
        </p:nvSpPr>
        <p:spPr>
          <a:xfrm>
            <a:off x="11382375" y="65055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402A87E-3E30-46C8-BF96-2026835D06A1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2400300" cy="0"/>
          </a:xfrm>
          <a:prstGeom prst="line">
            <a:avLst/>
          </a:prstGeom>
          <a:noFill/>
          <a:ln w="47625">
            <a:solidFill>
              <a:srgbClr val="2460C8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972B6A5-3F38-42CA-A036-E3962D332222}"/>
              </a:ext>
            </a:extLst>
          </p:cNvPr>
          <p:cNvSpPr>
            <a:spLocks noGrp="1"/>
          </p:cNvSpPr>
          <p:nvPr/>
        </p:nvSpPr>
        <p:spPr>
          <a:xfrm>
            <a:off x="590550" y="2514600"/>
            <a:ext cx="2400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Интерфейс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6C9D405-51B6-4313-975E-A94C5D6434CC}"/>
              </a:ext>
            </a:extLst>
          </p:cNvPr>
          <p:cNvSpPr>
            <a:spLocks noGrp="1"/>
          </p:cNvSpPr>
          <p:nvPr/>
        </p:nvSpPr>
        <p:spPr>
          <a:xfrm>
            <a:off x="590550" y="308610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React 18</a:t>
            </a:r>
          </a:p>
        </p:txBody>
      </p:sp>
      <p:sp>
        <p:nv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E95F2A0-D1D2-4E5D-8CBF-EA3024962D51}"/>
              </a:ext>
            </a:extLst>
          </p:cNvPr>
          <p:cNvSpPr>
            <a:spLocks noGrp="1"/>
          </p:cNvSpPr>
          <p:nvPr/>
        </p:nvSpPr>
        <p:spPr>
          <a:xfrm>
            <a:off x="590550" y="3438525"/>
            <a:ext cx="24003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D55373E-0BEC-4CDC-823F-AFE3562AD5B3}"/>
              </a:ext>
            </a:extLst>
          </p:cNvPr>
          <p:cNvSpPr>
            <a:spLocks noGrp="1"/>
          </p:cNvSpPr>
          <p:nvPr/>
        </p:nvSpPr>
        <p:spPr>
          <a:xfrm>
            <a:off x="590550" y="360045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TypeScript 5.9</a:t>
            </a:r>
          </a:p>
        </p:txBody>
      </p:sp>
      <p:sp>
        <p:nv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0C792065-DFC6-49A3-864D-EB447673C3F8}"/>
              </a:ext>
            </a:extLst>
          </p:cNvPr>
          <p:cNvSpPr>
            <a:spLocks noGrp="1"/>
          </p:cNvSpPr>
          <p:nvPr/>
        </p:nvSpPr>
        <p:spPr>
          <a:xfrm>
            <a:off x="590550" y="3952875"/>
            <a:ext cx="24003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7EC1770-F029-40AF-A89A-7CD2038078F9}"/>
              </a:ext>
            </a:extLst>
          </p:cNvPr>
          <p:cNvSpPr>
            <a:spLocks noGrp="1"/>
          </p:cNvSpPr>
          <p:nvPr/>
        </p:nvSpPr>
        <p:spPr>
          <a:xfrm>
            <a:off x="590550" y="411480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Vite 6</a:t>
            </a:r>
          </a:p>
        </p:txBody>
      </p:sp>
      <p:sp>
        <p:nv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64E59340-BCB9-41E2-B74A-AD4C66C98737}"/>
              </a:ext>
            </a:extLst>
          </p:cNvPr>
          <p:cNvSpPr>
            <a:spLocks noGrp="1"/>
          </p:cNvSpPr>
          <p:nvPr/>
        </p:nvSpPr>
        <p:spPr>
          <a:xfrm>
            <a:off x="590550" y="4467225"/>
            <a:ext cx="24003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622163C-D5CC-4144-9452-DB32D051EF52}"/>
              </a:ext>
            </a:extLst>
          </p:cNvPr>
          <p:cNvSpPr>
            <a:spLocks noGrp="1"/>
          </p:cNvSpPr>
          <p:nvPr/>
        </p:nvSpPr>
        <p:spPr>
          <a:xfrm>
            <a:off x="590550" y="462915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Recharts 2</a:t>
            </a:r>
          </a:p>
        </p:txBody>
      </p:sp>
      <p:sp>
        <p:nv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DB3B1483-A146-41EF-976D-0A731F6B905C}"/>
              </a:ext>
            </a:extLst>
          </p:cNvPr>
          <p:cNvSpPr>
            <a:spLocks noGrp="1"/>
          </p:cNvSpPr>
          <p:nvPr/>
        </p:nvSpPr>
        <p:spPr>
          <a:xfrm>
            <a:off x="3390900" y="2247900"/>
            <a:ext cx="2400300" cy="0"/>
          </a:xfrm>
          <a:prstGeom prst="line">
            <a:avLst/>
          </a:prstGeom>
          <a:noFill/>
          <a:ln w="47625">
            <a:solidFill>
              <a:srgbClr val="EE651B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E3F2CE3-164D-4771-B992-06F3F30712D9}"/>
              </a:ext>
            </a:extLst>
          </p:cNvPr>
          <p:cNvSpPr>
            <a:spLocks noGrp="1"/>
          </p:cNvSpPr>
          <p:nvPr/>
        </p:nvSpPr>
        <p:spPr>
          <a:xfrm>
            <a:off x="3390900" y="2514600"/>
            <a:ext cx="2400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Сервисы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222621F-2593-4551-8324-D555FAAE77A1}"/>
              </a:ext>
            </a:extLst>
          </p:cNvPr>
          <p:cNvSpPr>
            <a:spLocks noGrp="1"/>
          </p:cNvSpPr>
          <p:nvPr/>
        </p:nvSpPr>
        <p:spPr>
          <a:xfrm>
            <a:off x="3390900" y="308610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Python 3.12+</a:t>
            </a:r>
          </a:p>
        </p:txBody>
      </p:sp>
      <p:sp>
        <p:nv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53E3D5F0-2BC6-4DCF-81F2-FCD6E8446546}"/>
              </a:ext>
            </a:extLst>
          </p:cNvPr>
          <p:cNvSpPr>
            <a:spLocks noGrp="1"/>
          </p:cNvSpPr>
          <p:nvPr/>
        </p:nvSpPr>
        <p:spPr>
          <a:xfrm>
            <a:off x="3390900" y="3438525"/>
            <a:ext cx="24003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F5D6561-3A44-4DFB-A70F-72849340E5C8}"/>
              </a:ext>
            </a:extLst>
          </p:cNvPr>
          <p:cNvSpPr>
            <a:spLocks noGrp="1"/>
          </p:cNvSpPr>
          <p:nvPr/>
        </p:nvSpPr>
        <p:spPr>
          <a:xfrm>
            <a:off x="3390900" y="360045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FastAPI + Uvicorn</a:t>
            </a:r>
          </a:p>
        </p:txBody>
      </p:sp>
      <p:sp>
        <p:nv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5AEB6AF-6590-4417-9E71-24D1C4610387}"/>
              </a:ext>
            </a:extLst>
          </p:cNvPr>
          <p:cNvSpPr>
            <a:spLocks noGrp="1"/>
          </p:cNvSpPr>
          <p:nvPr/>
        </p:nvSpPr>
        <p:spPr>
          <a:xfrm>
            <a:off x="3390900" y="3952875"/>
            <a:ext cx="24003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3387CAD-CF4F-4DFA-8357-1CEFC0662BD1}"/>
              </a:ext>
            </a:extLst>
          </p:cNvPr>
          <p:cNvSpPr>
            <a:spLocks noGrp="1"/>
          </p:cNvSpPr>
          <p:nvPr/>
        </p:nvSpPr>
        <p:spPr>
          <a:xfrm>
            <a:off x="3390900" y="411480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SQLAlchemy Async</a:t>
            </a:r>
          </a:p>
        </p:txBody>
      </p:sp>
      <p:sp>
        <p:nv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14F5AFC1-0E10-4176-A423-E9D50FC0E2A8}"/>
              </a:ext>
            </a:extLst>
          </p:cNvPr>
          <p:cNvSpPr>
            <a:spLocks noGrp="1"/>
          </p:cNvSpPr>
          <p:nvPr/>
        </p:nvSpPr>
        <p:spPr>
          <a:xfrm>
            <a:off x="3390900" y="4467225"/>
            <a:ext cx="24003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6C3F286-1A29-45F1-8313-C8A04CD044E1}"/>
              </a:ext>
            </a:extLst>
          </p:cNvPr>
          <p:cNvSpPr>
            <a:spLocks noGrp="1"/>
          </p:cNvSpPr>
          <p:nvPr/>
        </p:nvSpPr>
        <p:spPr>
          <a:xfrm>
            <a:off x="3390900" y="462915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Alembic · AIS emulator</a:t>
            </a:r>
          </a:p>
        </p:txBody>
      </p:sp>
      <p:sp>
        <p:nv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042E1AC-E7CF-44BB-815B-D08ADF619F03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2400300" cy="0"/>
          </a:xfrm>
          <a:prstGeom prst="line">
            <a:avLst/>
          </a:prstGeom>
          <a:noFill/>
          <a:ln w="47625">
            <a:solidFill>
              <a:srgbClr val="2460C8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6FAC805-FBD8-41EA-A9FA-09DA55CA289D}"/>
              </a:ext>
            </a:extLst>
          </p:cNvPr>
          <p:cNvSpPr>
            <a:spLocks noGrp="1"/>
          </p:cNvSpPr>
          <p:nvPr/>
        </p:nvSpPr>
        <p:spPr>
          <a:xfrm>
            <a:off x="6191250" y="2514600"/>
            <a:ext cx="2400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Хранение и очередь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73D16BA-5676-44FE-B512-AC122F6C9923}"/>
              </a:ext>
            </a:extLst>
          </p:cNvPr>
          <p:cNvSpPr>
            <a:spLocks noGrp="1"/>
          </p:cNvSpPr>
          <p:nvPr/>
        </p:nvSpPr>
        <p:spPr>
          <a:xfrm>
            <a:off x="6191250" y="308610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PostgreSQL 16 · JSONB</a:t>
            </a:r>
          </a:p>
        </p:txBody>
      </p:sp>
      <p:sp>
        <p:nv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620A8D93-3A3E-45A0-B8F5-4E9EE0459743}"/>
              </a:ext>
            </a:extLst>
          </p:cNvPr>
          <p:cNvSpPr>
            <a:spLocks noGrp="1"/>
          </p:cNvSpPr>
          <p:nvPr/>
        </p:nvSpPr>
        <p:spPr>
          <a:xfrm>
            <a:off x="6191250" y="3438525"/>
            <a:ext cx="24003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F924350-0BB7-4B1D-AE74-AE84C1FB630D}"/>
              </a:ext>
            </a:extLst>
          </p:cNvPr>
          <p:cNvSpPr>
            <a:spLocks noGrp="1"/>
          </p:cNvSpPr>
          <p:nvPr/>
        </p:nvSpPr>
        <p:spPr>
          <a:xfrm>
            <a:off x="6191250" y="360045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Redis 7 · Streams</a:t>
            </a:r>
          </a:p>
        </p:txBody>
      </p:sp>
      <p:sp>
        <p:nv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A5CA47CF-DEC9-472D-AA52-9FB7F6F8ED0E}"/>
              </a:ext>
            </a:extLst>
          </p:cNvPr>
          <p:cNvSpPr>
            <a:spLocks noGrp="1"/>
          </p:cNvSpPr>
          <p:nvPr/>
        </p:nvSpPr>
        <p:spPr>
          <a:xfrm>
            <a:off x="6191250" y="3952875"/>
            <a:ext cx="24003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D98BE90-0C87-4D6F-9DA3-DF8154016969}"/>
              </a:ext>
            </a:extLst>
          </p:cNvPr>
          <p:cNvSpPr>
            <a:spLocks noGrp="1"/>
          </p:cNvSpPr>
          <p:nvPr/>
        </p:nvSpPr>
        <p:spPr>
          <a:xfrm>
            <a:off x="6191250" y="411480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Consumer groups</a:t>
            </a:r>
          </a:p>
        </p:txBody>
      </p:sp>
      <p:sp>
        <p:nv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A688240F-3C90-4EF5-A85A-58B53985C267}"/>
              </a:ext>
            </a:extLst>
          </p:cNvPr>
          <p:cNvSpPr>
            <a:spLocks noGrp="1"/>
          </p:cNvSpPr>
          <p:nvPr/>
        </p:nvSpPr>
        <p:spPr>
          <a:xfrm>
            <a:off x="6191250" y="4467225"/>
            <a:ext cx="24003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3B112D2-03D1-4206-84FE-CD62BEAB3771}"/>
              </a:ext>
            </a:extLst>
          </p:cNvPr>
          <p:cNvSpPr>
            <a:spLocks noGrp="1"/>
          </p:cNvSpPr>
          <p:nvPr/>
        </p:nvSpPr>
        <p:spPr>
          <a:xfrm>
            <a:off x="6191250" y="462915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Transactional outbox</a:t>
            </a:r>
          </a:p>
        </p:txBody>
      </p:sp>
      <p:sp>
        <p:nv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C45DBC5-9699-48AE-8BE9-63316FCD58B4}"/>
              </a:ext>
            </a:extLst>
          </p:cNvPr>
          <p:cNvSpPr>
            <a:spLocks noGrp="1"/>
          </p:cNvSpPr>
          <p:nvPr/>
        </p:nvSpPr>
        <p:spPr>
          <a:xfrm>
            <a:off x="8991600" y="2247900"/>
            <a:ext cx="2400300" cy="0"/>
          </a:xfrm>
          <a:prstGeom prst="line">
            <a:avLst/>
          </a:prstGeom>
          <a:noFill/>
          <a:ln w="47625">
            <a:solidFill>
              <a:srgbClr val="EE651B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A39A6AE7-F50E-4710-9B47-966065124C58}"/>
              </a:ext>
            </a:extLst>
          </p:cNvPr>
          <p:cNvSpPr>
            <a:spLocks noGrp="1"/>
          </p:cNvSpPr>
          <p:nvPr/>
        </p:nvSpPr>
        <p:spPr>
          <a:xfrm>
            <a:off x="8991600" y="2514600"/>
            <a:ext cx="2400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Запуск и проверка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16F8B60-3CBF-4AA4-BC1B-6FB4397E960F}"/>
              </a:ext>
            </a:extLst>
          </p:cNvPr>
          <p:cNvSpPr>
            <a:spLocks noGrp="1"/>
          </p:cNvSpPr>
          <p:nvPr/>
        </p:nvSpPr>
        <p:spPr>
          <a:xfrm>
            <a:off x="8991600" y="308610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Docker Compose</a:t>
            </a:r>
          </a:p>
        </p:txBody>
      </p:sp>
      <p:sp>
        <p:nv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8C999AA0-FD94-469A-B703-599DA627459C}"/>
              </a:ext>
            </a:extLst>
          </p:cNvPr>
          <p:cNvSpPr>
            <a:spLocks noGrp="1"/>
          </p:cNvSpPr>
          <p:nvPr/>
        </p:nvSpPr>
        <p:spPr>
          <a:xfrm>
            <a:off x="8991600" y="3438525"/>
            <a:ext cx="24003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55CAB2E-3331-4593-BF6B-931DB04BE135}"/>
              </a:ext>
            </a:extLst>
          </p:cNvPr>
          <p:cNvSpPr>
            <a:spLocks noGrp="1"/>
          </p:cNvSpPr>
          <p:nvPr/>
        </p:nvSpPr>
        <p:spPr>
          <a:xfrm>
            <a:off x="8991600" y="360045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Prometheus + Grafana*</a:t>
            </a:r>
          </a:p>
        </p:txBody>
      </p:sp>
      <p:sp>
        <p:nv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1D4A1788-0C18-4C62-916D-86C5DC4BA22D}"/>
              </a:ext>
            </a:extLst>
          </p:cNvPr>
          <p:cNvSpPr>
            <a:spLocks noGrp="1"/>
          </p:cNvSpPr>
          <p:nvPr/>
        </p:nvSpPr>
        <p:spPr>
          <a:xfrm>
            <a:off x="8991600" y="3952875"/>
            <a:ext cx="24003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C8DC5E85-80A1-40B6-BED5-F28DCF416414}"/>
              </a:ext>
            </a:extLst>
          </p:cNvPr>
          <p:cNvSpPr>
            <a:spLocks noGrp="1"/>
          </p:cNvSpPr>
          <p:nvPr/>
        </p:nvSpPr>
        <p:spPr>
          <a:xfrm>
            <a:off x="8991600" y="411480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Locust load profile*</a:t>
            </a:r>
          </a:p>
        </p:txBody>
      </p:sp>
      <p:sp>
        <p:nv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C2A5FEEC-4D61-4A89-B661-FEA2D344032D}"/>
              </a:ext>
            </a:extLst>
          </p:cNvPr>
          <p:cNvSpPr>
            <a:spLocks noGrp="1"/>
          </p:cNvSpPr>
          <p:nvPr/>
        </p:nvSpPr>
        <p:spPr>
          <a:xfrm>
            <a:off x="8991600" y="4467225"/>
            <a:ext cx="24003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B8A60A09-670B-4C10-BA5E-7F76B2FD9AB4}"/>
              </a:ext>
            </a:extLst>
          </p:cNvPr>
          <p:cNvSpPr>
            <a:spLocks noGrp="1"/>
          </p:cNvSpPr>
          <p:nvPr/>
        </p:nvSpPr>
        <p:spPr>
          <a:xfrm>
            <a:off x="8991600" y="4629150"/>
            <a:ext cx="2400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Matching workers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3944F07E-231B-4E62-9C15-9CB0AFCCEC00}"/>
              </a:ext>
            </a:extLst>
          </p:cNvPr>
          <p:cNvSpPr>
            <a:spLocks noGrp="1"/>
          </p:cNvSpPr>
          <p:nvPr/>
        </p:nvSpPr>
        <p:spPr>
          <a:xfrm>
            <a:off x="590550" y="5353050"/>
            <a:ext cx="11010900" cy="590550"/>
          </a:xfrm>
          <a:prstGeom prst="roundRect">
            <a:avLst>
              <a:gd name="adj" fmla="val 25806"/>
            </a:avLst>
          </a:prstGeom>
          <a:solidFill>
            <a:srgbClr val="E8EFFB"/>
          </a:solidFill>
          <a:ln w="0">
            <a:noFill/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08A2C8A1-9818-4FE4-90D4-B42323CF7A4C}"/>
              </a:ext>
            </a:extLst>
          </p:cNvPr>
          <p:cNvSpPr>
            <a:spLocks noGrp="1"/>
          </p:cNvSpPr>
          <p:nvPr/>
        </p:nvSpPr>
        <p:spPr>
          <a:xfrm>
            <a:off x="800100" y="5524500"/>
            <a:ext cx="1057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* Prometheus / Grafana включаются профилем observability, Locust — профилем load.</a:t>
            </a:r>
          </a:p>
        </p:txBody>
      </p:sp>
    </p:spTree>
    <p:extLst>
      <p:ext uri="{BB962C8B-B14F-4D97-AF65-F5344CB8AC3E}">
        <p14:creationId xmlns:p14="http://schemas.microsoft.com/office/powerpoint/2010/main" val="314534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0F50BF1-50A1-4F98-9098-1DED762CED8F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460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0C8"/>
                </a:solidFill>
                <a:latin typeface="Arial"/>
                <a:ea typeface="Arial"/>
                <a:cs typeface="Arial"/>
              </a:rPr>
              <a:t>РАБОЧИЙ ИНТЕРФЕЙС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F6D9C6C3-EDDB-46AA-A18D-CB71731A3E24}"/>
              </a:ext>
            </a:extLst>
          </p:cNvPr>
          <p:cNvSpPr>
            <a:spLocks noGrp="1"/>
          </p:cNvSpPr>
          <p:nvPr/>
        </p:nvSpPr>
        <p:spPr>
          <a:xfrm>
            <a:off x="11115675" y="371475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523E8BA-5089-43CA-BA79-A03AD56F287C}"/>
              </a:ext>
            </a:extLst>
          </p:cNvPr>
          <p:cNvSpPr>
            <a:spLocks noGrp="1"/>
          </p:cNvSpPr>
          <p:nvPr/>
        </p:nvSpPr>
        <p:spPr>
          <a:xfrm>
            <a:off x="11515725" y="371475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16A9E6F-1BFA-42DD-81BE-24E9E821E126}"/>
              </a:ext>
            </a:extLst>
          </p:cNvPr>
          <p:cNvSpPr>
            <a:spLocks noGrp="1"/>
          </p:cNvSpPr>
          <p:nvPr/>
        </p:nvSpPr>
        <p:spPr>
          <a:xfrm>
            <a:off x="11772900" y="371475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0ED4A29-2C35-4AFA-B093-EA92D3CF291D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Обзор оператора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A3DCA39-DB5C-4FE4-9D56-65C867A59B33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На одном экране видны поток заявок, состояние очереди, подтверждение АИС и текущая нагрузка.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2391B94-43A1-48C0-8410-30AB683D26A9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3FA2036-B434-4015-AE93-8F7648CD0947}"/>
              </a:ext>
            </a:extLst>
          </p:cNvPr>
          <p:cNvSpPr>
            <a:spLocks noGrp="1"/>
          </p:cNvSpPr>
          <p:nvPr/>
        </p:nvSpPr>
        <p:spPr>
          <a:xfrm>
            <a:off x="11382375" y="65055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980325"/>
            <a:ext cx="6667500" cy="4373724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7C4BAD9-B7AD-4CE6-BB6C-CA5D78C58839}"/>
              </a:ext>
            </a:extLst>
          </p:cNvPr>
          <p:cNvSpPr>
            <a:spLocks noGrp="1"/>
          </p:cNvSpPr>
          <p:nvPr/>
        </p:nvSpPr>
        <p:spPr>
          <a:xfrm>
            <a:off x="7639050" y="2095500"/>
            <a:ext cx="3524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Что показывает экран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3871AA0F-5F23-4287-8879-09C28E184C2F}"/>
              </a:ext>
            </a:extLst>
          </p:cNvPr>
          <p:cNvSpPr>
            <a:spLocks noGrp="1"/>
          </p:cNvSpPr>
          <p:nvPr/>
        </p:nvSpPr>
        <p:spPr>
          <a:xfrm>
            <a:off x="7696200" y="2714625"/>
            <a:ext cx="95250" cy="95250"/>
          </a:xfrm>
          <a:prstGeom prst="ellipse">
            <a:avLst/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46863DE-E12E-487C-A9A3-3F57DE0F9B16}"/>
              </a:ext>
            </a:extLst>
          </p:cNvPr>
          <p:cNvSpPr>
            <a:spLocks noGrp="1"/>
          </p:cNvSpPr>
          <p:nvPr/>
        </p:nvSpPr>
        <p:spPr>
          <a:xfrm>
            <a:off x="7905750" y="2676525"/>
            <a:ext cx="3333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входящие и назначенные заявки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D80F1133-D340-40AB-A156-F72C5B4F9179}"/>
              </a:ext>
            </a:extLst>
          </p:cNvPr>
          <p:cNvSpPr>
            <a:spLocks noGrp="1"/>
          </p:cNvSpPr>
          <p:nvPr/>
        </p:nvSpPr>
        <p:spPr>
          <a:xfrm>
            <a:off x="7696200" y="3219450"/>
            <a:ext cx="95250" cy="95250"/>
          </a:xfrm>
          <a:prstGeom prst="ellipse">
            <a:avLst/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3E87D0A-B840-41CF-B1CB-C78A1F01E265}"/>
              </a:ext>
            </a:extLst>
          </p:cNvPr>
          <p:cNvSpPr>
            <a:spLocks noGrp="1"/>
          </p:cNvSpPr>
          <p:nvPr/>
        </p:nvSpPr>
        <p:spPr>
          <a:xfrm>
            <a:off x="7905750" y="3181350"/>
            <a:ext cx="3333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ожидающие события в потоке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153693E9-F046-4670-9EBF-98B4D1FF72DA}"/>
              </a:ext>
            </a:extLst>
          </p:cNvPr>
          <p:cNvSpPr>
            <a:spLocks noGrp="1"/>
          </p:cNvSpPr>
          <p:nvPr/>
        </p:nvSpPr>
        <p:spPr>
          <a:xfrm>
            <a:off x="7696200" y="3724275"/>
            <a:ext cx="95250" cy="95250"/>
          </a:xfrm>
          <a:prstGeom prst="ellipse">
            <a:avLst/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5A291FE-583A-426A-9A31-6A5F89BAF6D5}"/>
              </a:ext>
            </a:extLst>
          </p:cNvPr>
          <p:cNvSpPr>
            <a:spLocks noGrp="1"/>
          </p:cNvSpPr>
          <p:nvPr/>
        </p:nvSpPr>
        <p:spPr>
          <a:xfrm>
            <a:off x="7905750" y="3686175"/>
            <a:ext cx="3333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outbox и DLQ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1C9FD5FE-5564-4CF1-97AC-4D7F0D313D93}"/>
              </a:ext>
            </a:extLst>
          </p:cNvPr>
          <p:cNvSpPr>
            <a:spLocks noGrp="1"/>
          </p:cNvSpPr>
          <p:nvPr/>
        </p:nvSpPr>
        <p:spPr>
          <a:xfrm>
            <a:off x="7696200" y="4229100"/>
            <a:ext cx="95250" cy="95250"/>
          </a:xfrm>
          <a:prstGeom prst="ellipse">
            <a:avLst/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E9AFC62-F236-49DB-A153-FCF13CC5161F}"/>
              </a:ext>
            </a:extLst>
          </p:cNvPr>
          <p:cNvSpPr>
            <a:spLocks noGrp="1"/>
          </p:cNvSpPr>
          <p:nvPr/>
        </p:nvSpPr>
        <p:spPr>
          <a:xfrm>
            <a:off x="7905750" y="4191000"/>
            <a:ext cx="3333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активные исполнители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1421348A-1911-473B-9813-DFF50F967B3E}"/>
              </a:ext>
            </a:extLst>
          </p:cNvPr>
          <p:cNvSpPr>
            <a:spLocks noGrp="1"/>
          </p:cNvSpPr>
          <p:nvPr/>
        </p:nvSpPr>
        <p:spPr>
          <a:xfrm>
            <a:off x="7696200" y="4733925"/>
            <a:ext cx="95250" cy="95250"/>
          </a:xfrm>
          <a:prstGeom prst="ellipse">
            <a:avLst/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C45AC18-C6E9-48FA-85FB-3CA7D77CD36C}"/>
              </a:ext>
            </a:extLst>
          </p:cNvPr>
          <p:cNvSpPr>
            <a:spLocks noGrp="1"/>
          </p:cNvSpPr>
          <p:nvPr/>
        </p:nvSpPr>
        <p:spPr>
          <a:xfrm>
            <a:off x="7905750" y="4695825"/>
            <a:ext cx="3333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метрики и графики нагрузки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A1B3D9E9-4A93-4695-8EFB-9D0960D0697F}"/>
              </a:ext>
            </a:extLst>
          </p:cNvPr>
          <p:cNvSpPr>
            <a:spLocks noGrp="1"/>
          </p:cNvSpPr>
          <p:nvPr/>
        </p:nvSpPr>
        <p:spPr>
          <a:xfrm>
            <a:off x="7600950" y="5286375"/>
            <a:ext cx="4000500" cy="800100"/>
          </a:xfrm>
          <a:prstGeom prst="roundRect">
            <a:avLst>
              <a:gd name="adj" fmla="val 17857"/>
            </a:avLst>
          </a:prstGeom>
          <a:solidFill>
            <a:srgbClr val="FFF0E4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38E9DA9-F5B8-4555-AC3B-156EC913C24C}"/>
              </a:ext>
            </a:extLst>
          </p:cNvPr>
          <p:cNvSpPr>
            <a:spLocks noGrp="1"/>
          </p:cNvSpPr>
          <p:nvPr/>
        </p:nvSpPr>
        <p:spPr>
          <a:xfrm>
            <a:off x="7800975" y="5438775"/>
            <a:ext cx="36099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B85B1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5B13"/>
                </a:solidFill>
                <a:latin typeface="Arial"/>
                <a:ea typeface="Arial"/>
                <a:cs typeface="Arial"/>
              </a:rPr>
              <a:t>Снимок демонстрационной базы. Fairness на экране не является результатом acceptance-нагрузки.</a:t>
            </a:r>
          </a:p>
        </p:txBody>
      </p:sp>
    </p:spTree>
    <p:extLst>
      <p:ext uri="{BB962C8B-B14F-4D97-AF65-F5344CB8AC3E}">
        <p14:creationId xmlns:p14="http://schemas.microsoft.com/office/powerpoint/2010/main" val="2085381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C7AD37C-40AB-4942-84E5-63EF5CD37DBF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460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0C8"/>
                </a:solidFill>
                <a:latin typeface="Arial"/>
                <a:ea typeface="Arial"/>
                <a:cs typeface="Arial"/>
              </a:rPr>
              <a:t>ОПЕРАЦИОННЫЙ ПОТОК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EE39F29-530C-4CD1-B362-42BEEB5C91CB}"/>
              </a:ext>
            </a:extLst>
          </p:cNvPr>
          <p:cNvSpPr>
            <a:spLocks noGrp="1"/>
          </p:cNvSpPr>
          <p:nvPr/>
        </p:nvSpPr>
        <p:spPr>
          <a:xfrm>
            <a:off x="11115675" y="371475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90E7C57-33C0-46B2-9623-4B84122045AF}"/>
              </a:ext>
            </a:extLst>
          </p:cNvPr>
          <p:cNvSpPr>
            <a:spLocks noGrp="1"/>
          </p:cNvSpPr>
          <p:nvPr/>
        </p:nvSpPr>
        <p:spPr>
          <a:xfrm>
            <a:off x="11515725" y="371475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DEC4345-362E-4CFF-84C8-D687BC22E5C0}"/>
              </a:ext>
            </a:extLst>
          </p:cNvPr>
          <p:cNvSpPr>
            <a:spLocks noGrp="1"/>
          </p:cNvSpPr>
          <p:nvPr/>
        </p:nvSpPr>
        <p:spPr>
          <a:xfrm>
            <a:off x="11772900" y="371475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6A50C87-7FFF-4415-B283-AF5CD95AF0B7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Заявки и объяснение решения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DAD8C46-D791-4FDC-9791-FAB8F948A2CA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Оператор создаёт заявку, проверяет статус и может посмотреть причину выбора исполнителя.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9C0306C-EF15-42AE-96AF-AF3328028E4A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0415A1C-A641-4E02-9C76-44D8F463A34F}"/>
              </a:ext>
            </a:extLst>
          </p:cNvPr>
          <p:cNvSpPr>
            <a:spLocks noGrp="1"/>
          </p:cNvSpPr>
          <p:nvPr/>
        </p:nvSpPr>
        <p:spPr>
          <a:xfrm>
            <a:off x="11382375" y="65055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980325"/>
            <a:ext cx="6667500" cy="4373724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38B9F1C-54A6-423E-B72A-3B7A06754F99}"/>
              </a:ext>
            </a:extLst>
          </p:cNvPr>
          <p:cNvSpPr>
            <a:spLocks noGrp="1"/>
          </p:cNvSpPr>
          <p:nvPr/>
        </p:nvSpPr>
        <p:spPr>
          <a:xfrm>
            <a:off x="7639050" y="2095500"/>
            <a:ext cx="3524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Сценарий демонстрации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BFA82C5-69E4-4346-BA51-8AAF2C970603}"/>
              </a:ext>
            </a:extLst>
          </p:cNvPr>
          <p:cNvSpPr>
            <a:spLocks noGrp="1"/>
          </p:cNvSpPr>
          <p:nvPr/>
        </p:nvSpPr>
        <p:spPr>
          <a:xfrm>
            <a:off x="7639050" y="27051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04338A6-9CBA-4248-9E24-CC70351DD962}"/>
              </a:ext>
            </a:extLst>
          </p:cNvPr>
          <p:cNvSpPr>
            <a:spLocks noGrp="1"/>
          </p:cNvSpPr>
          <p:nvPr/>
        </p:nvSpPr>
        <p:spPr>
          <a:xfrm>
            <a:off x="8067675" y="2686050"/>
            <a:ext cx="3305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открыть список заявок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8BAA447-9393-4AD7-9374-3E6C93EC50FE}"/>
              </a:ext>
            </a:extLst>
          </p:cNvPr>
          <p:cNvSpPr>
            <a:spLocks noGrp="1"/>
          </p:cNvSpPr>
          <p:nvPr/>
        </p:nvSpPr>
        <p:spPr>
          <a:xfrm>
            <a:off x="7639050" y="33528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27F2201-C959-4410-A21F-3A23B461553F}"/>
              </a:ext>
            </a:extLst>
          </p:cNvPr>
          <p:cNvSpPr>
            <a:spLocks noGrp="1"/>
          </p:cNvSpPr>
          <p:nvPr/>
        </p:nvSpPr>
        <p:spPr>
          <a:xfrm>
            <a:off x="8067675" y="3333750"/>
            <a:ext cx="3305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запустить подбор для заявки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7BE4B57-EDE4-4503-8F5F-804FA799E50D}"/>
              </a:ext>
            </a:extLst>
          </p:cNvPr>
          <p:cNvSpPr>
            <a:spLocks noGrp="1"/>
          </p:cNvSpPr>
          <p:nvPr/>
        </p:nvSpPr>
        <p:spPr>
          <a:xfrm>
            <a:off x="7639050" y="40005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2FD456F-C1D7-46B9-8B7C-9EFF2C1EC502}"/>
              </a:ext>
            </a:extLst>
          </p:cNvPr>
          <p:cNvSpPr>
            <a:spLocks noGrp="1"/>
          </p:cNvSpPr>
          <p:nvPr/>
        </p:nvSpPr>
        <p:spPr>
          <a:xfrm>
            <a:off x="8067675" y="3981450"/>
            <a:ext cx="3305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проверить статус обработки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2E25B4F-4623-4188-BEA8-F6E54CE50C1E}"/>
              </a:ext>
            </a:extLst>
          </p:cNvPr>
          <p:cNvSpPr>
            <a:spLocks noGrp="1"/>
          </p:cNvSpPr>
          <p:nvPr/>
        </p:nvSpPr>
        <p:spPr>
          <a:xfrm>
            <a:off x="7639050" y="46482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FA73B44-2532-4034-B5CA-26EEB55B9F96}"/>
              </a:ext>
            </a:extLst>
          </p:cNvPr>
          <p:cNvSpPr>
            <a:spLocks noGrp="1"/>
          </p:cNvSpPr>
          <p:nvPr/>
        </p:nvSpPr>
        <p:spPr>
          <a:xfrm>
            <a:off x="8067675" y="4629150"/>
            <a:ext cx="3305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открыть Explain и причины решения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774405B-E59A-4C82-8A3B-FE1024BB8019}"/>
              </a:ext>
            </a:extLst>
          </p:cNvPr>
          <p:cNvSpPr>
            <a:spLocks noGrp="1"/>
          </p:cNvSpPr>
          <p:nvPr/>
        </p:nvSpPr>
        <p:spPr>
          <a:xfrm>
            <a:off x="7639050" y="5438775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Внешнее подтверждение проходит асинхронно через контур АИС.</a:t>
            </a:r>
          </a:p>
        </p:txBody>
      </p:sp>
    </p:spTree>
    <p:extLst>
      <p:ext uri="{BB962C8B-B14F-4D97-AF65-F5344CB8AC3E}">
        <p14:creationId xmlns:p14="http://schemas.microsoft.com/office/powerpoint/2010/main" val="812324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6423C7B-1FEC-4770-9785-677EBFABA75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460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0C8"/>
                </a:solidFill>
                <a:latin typeface="Arial"/>
                <a:ea typeface="Arial"/>
                <a:cs typeface="Arial"/>
              </a:rPr>
              <a:t>ПРОВЕРЯЕМОСТЬ И ОТЧЁТНОСТЬ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89656CF-DE43-44D4-977B-92C8C15273C7}"/>
              </a:ext>
            </a:extLst>
          </p:cNvPr>
          <p:cNvSpPr>
            <a:spLocks noGrp="1"/>
          </p:cNvSpPr>
          <p:nvPr/>
        </p:nvSpPr>
        <p:spPr>
          <a:xfrm>
            <a:off x="11115675" y="371475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2271BEC-8A66-40DC-ADF2-7E954822D6D9}"/>
              </a:ext>
            </a:extLst>
          </p:cNvPr>
          <p:cNvSpPr>
            <a:spLocks noGrp="1"/>
          </p:cNvSpPr>
          <p:nvPr/>
        </p:nvSpPr>
        <p:spPr>
          <a:xfrm>
            <a:off x="11515725" y="371475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7BBD529-213E-4F9A-B113-3503C41E1C29}"/>
              </a:ext>
            </a:extLst>
          </p:cNvPr>
          <p:cNvSpPr>
            <a:spLocks noGrp="1"/>
          </p:cNvSpPr>
          <p:nvPr/>
        </p:nvSpPr>
        <p:spPr>
          <a:xfrm>
            <a:off x="11772900" y="371475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9AB9915-748C-44DC-8FEF-6FC1FD3D62B3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Аудит, повтор доставки и экспорт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5A74BAC-550F-4608-A4FB-32FB20ECD30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Журнал показывает историю решений, DLQ — сообщения с исчерпанными попытками, Excel — сводный файл.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8F7D917-9A50-4571-A476-73C4B3FF37AF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85D28B-7CB6-4DEE-9E02-6BCA6F10C4A4}"/>
              </a:ext>
            </a:extLst>
          </p:cNvPr>
          <p:cNvSpPr>
            <a:spLocks noGrp="1"/>
          </p:cNvSpPr>
          <p:nvPr/>
        </p:nvSpPr>
        <p:spPr>
          <a:xfrm>
            <a:off x="11382375" y="65055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980325"/>
            <a:ext cx="6667500" cy="4373724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F926A8-3752-4BF6-8C94-DEC4E16E398A}"/>
              </a:ext>
            </a:extLst>
          </p:cNvPr>
          <p:cNvSpPr>
            <a:spLocks noGrp="1"/>
          </p:cNvSpPr>
          <p:nvPr/>
        </p:nvSpPr>
        <p:spPr>
          <a:xfrm>
            <a:off x="7639050" y="2076450"/>
            <a:ext cx="3581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Выгрузка Excel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607E571-57F2-4C81-92B0-43C351527B06}"/>
              </a:ext>
            </a:extLst>
          </p:cNvPr>
          <p:cNvSpPr>
            <a:spLocks noGrp="1"/>
          </p:cNvSpPr>
          <p:nvPr/>
        </p:nvSpPr>
        <p:spPr>
          <a:xfrm>
            <a:off x="7639050" y="2571750"/>
            <a:ext cx="85725" cy="266700"/>
          </a:xfrm>
          <a:prstGeom prst="roundRect">
            <a:avLst>
              <a:gd name="adj" fmla="val 44444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800AFCF-3B56-4517-B97E-267389C689D9}"/>
              </a:ext>
            </a:extLst>
          </p:cNvPr>
          <p:cNvSpPr>
            <a:spLocks noGrp="1"/>
          </p:cNvSpPr>
          <p:nvPr/>
        </p:nvSpPr>
        <p:spPr>
          <a:xfrm>
            <a:off x="7839075" y="26098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51E7891-D141-4C1C-BEBF-3388BDF341D6}"/>
              </a:ext>
            </a:extLst>
          </p:cNvPr>
          <p:cNvSpPr>
            <a:spLocks noGrp="1"/>
          </p:cNvSpPr>
          <p:nvPr/>
        </p:nvSpPr>
        <p:spPr>
          <a:xfrm>
            <a:off x="7639050" y="2981325"/>
            <a:ext cx="85725" cy="266700"/>
          </a:xfrm>
          <a:prstGeom prst="roundRect">
            <a:avLst>
              <a:gd name="adj" fmla="val 44444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CAF549A-1A77-42B6-ABD2-556AE64CBB61}"/>
              </a:ext>
            </a:extLst>
          </p:cNvPr>
          <p:cNvSpPr>
            <a:spLocks noGrp="1"/>
          </p:cNvSpPr>
          <p:nvPr/>
        </p:nvSpPr>
        <p:spPr>
          <a:xfrm>
            <a:off x="7839075" y="301942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Executors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55362DF-AB88-4902-B2FC-035619C31728}"/>
              </a:ext>
            </a:extLst>
          </p:cNvPr>
          <p:cNvSpPr>
            <a:spLocks noGrp="1"/>
          </p:cNvSpPr>
          <p:nvPr/>
        </p:nvSpPr>
        <p:spPr>
          <a:xfrm>
            <a:off x="7639050" y="3390900"/>
            <a:ext cx="85725" cy="266700"/>
          </a:xfrm>
          <a:prstGeom prst="roundRect">
            <a:avLst>
              <a:gd name="adj" fmla="val 44444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FCEF272-1773-4526-B270-D4BB7CFBC910}"/>
              </a:ext>
            </a:extLst>
          </p:cNvPr>
          <p:cNvSpPr>
            <a:spLocks noGrp="1"/>
          </p:cNvSpPr>
          <p:nvPr/>
        </p:nvSpPr>
        <p:spPr>
          <a:xfrm>
            <a:off x="7839075" y="342900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AEA14B0C-3034-43F4-B875-62955E1CC4B7}"/>
              </a:ext>
            </a:extLst>
          </p:cNvPr>
          <p:cNvSpPr>
            <a:spLocks noGrp="1"/>
          </p:cNvSpPr>
          <p:nvPr/>
        </p:nvSpPr>
        <p:spPr>
          <a:xfrm>
            <a:off x="7639050" y="3800475"/>
            <a:ext cx="85725" cy="266700"/>
          </a:xfrm>
          <a:prstGeom prst="roundRect">
            <a:avLst>
              <a:gd name="adj" fmla="val 44444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972AAE9-0A09-4688-8F67-210AF8B9EC26}"/>
              </a:ext>
            </a:extLst>
          </p:cNvPr>
          <p:cNvSpPr>
            <a:spLocks noGrp="1"/>
          </p:cNvSpPr>
          <p:nvPr/>
        </p:nvSpPr>
        <p:spPr>
          <a:xfrm>
            <a:off x="7839075" y="38385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Fairness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44939E71-E66E-4348-BBE0-9BD4AA68A9D1}"/>
              </a:ext>
            </a:extLst>
          </p:cNvPr>
          <p:cNvSpPr>
            <a:spLocks noGrp="1"/>
          </p:cNvSpPr>
          <p:nvPr/>
        </p:nvSpPr>
        <p:spPr>
          <a:xfrm>
            <a:off x="7639050" y="4210050"/>
            <a:ext cx="85725" cy="266700"/>
          </a:xfrm>
          <a:prstGeom prst="roundRect">
            <a:avLst>
              <a:gd name="adj" fmla="val 44444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0A06F57-DF1D-4032-A249-EDCEC7485F91}"/>
              </a:ext>
            </a:extLst>
          </p:cNvPr>
          <p:cNvSpPr>
            <a:spLocks noGrp="1"/>
          </p:cNvSpPr>
          <p:nvPr/>
        </p:nvSpPr>
        <p:spPr>
          <a:xfrm>
            <a:off x="7839075" y="42481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Assignments</a:t>
            </a:r>
          </a:p>
        </p:txBody>
      </p:sp>
      <p:sp>
        <p:nv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E7BDE36-C858-476D-818B-FF8871902D99}"/>
              </a:ext>
            </a:extLst>
          </p:cNvPr>
          <p:cNvSpPr>
            <a:spLocks noGrp="1"/>
          </p:cNvSpPr>
          <p:nvPr/>
        </p:nvSpPr>
        <p:spPr>
          <a:xfrm>
            <a:off x="7639050" y="4762500"/>
            <a:ext cx="375285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9E79130-5201-4E43-8BF9-2809BB1B707D}"/>
              </a:ext>
            </a:extLst>
          </p:cNvPr>
          <p:cNvSpPr>
            <a:spLocks noGrp="1"/>
          </p:cNvSpPr>
          <p:nvPr/>
        </p:nvSpPr>
        <p:spPr>
          <a:xfrm>
            <a:off x="7639050" y="495300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Статус интеграции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BBDADDF-D540-44E6-8158-14C3DFC59693}"/>
              </a:ext>
            </a:extLst>
          </p:cNvPr>
          <p:cNvSpPr>
            <a:spLocks noGrp="1"/>
          </p:cNvSpPr>
          <p:nvPr/>
        </p:nvSpPr>
        <p:spPr>
          <a:xfrm>
            <a:off x="7639050" y="5314950"/>
            <a:ext cx="36957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Повтор отправки доступен из панели. Отдельная aggregate-таблица метрик кейса пока отсутствует.</a:t>
            </a:r>
          </a:p>
        </p:txBody>
      </p:sp>
    </p:spTree>
    <p:extLst>
      <p:ext uri="{BB962C8B-B14F-4D97-AF65-F5344CB8AC3E}">
        <p14:creationId xmlns:p14="http://schemas.microsoft.com/office/powerpoint/2010/main" val="932889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AD89C2ED-5206-4557-9F1D-99319E3C4801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460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0C8"/>
                </a:solidFill>
                <a:latin typeface="Arial"/>
                <a:ea typeface="Arial"/>
                <a:cs typeface="Arial"/>
              </a:rPr>
              <a:t>МОДЕЛЬ ДАННЫХ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FB5BA16-1237-47B2-B17A-88813486FC14}"/>
              </a:ext>
            </a:extLst>
          </p:cNvPr>
          <p:cNvSpPr>
            <a:spLocks noGrp="1"/>
          </p:cNvSpPr>
          <p:nvPr/>
        </p:nvSpPr>
        <p:spPr>
          <a:xfrm>
            <a:off x="11115675" y="371475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D4DD5BB-A143-4B7C-8248-0158E84B359C}"/>
              </a:ext>
            </a:extLst>
          </p:cNvPr>
          <p:cNvSpPr>
            <a:spLocks noGrp="1"/>
          </p:cNvSpPr>
          <p:nvPr/>
        </p:nvSpPr>
        <p:spPr>
          <a:xfrm>
            <a:off x="11515725" y="371475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3667DB6-D4BC-44F6-9966-518D851DF649}"/>
              </a:ext>
            </a:extLst>
          </p:cNvPr>
          <p:cNvSpPr>
            <a:spLocks noGrp="1"/>
          </p:cNvSpPr>
          <p:nvPr/>
        </p:nvSpPr>
        <p:spPr>
          <a:xfrm>
            <a:off x="11772900" y="371475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B0C95D4-1493-4220-9097-B04AAC1BB579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Данные разделены по ответственности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46779CF-7C63-4E63-9AF8-DCF007F795BD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Две схемы PostgreSQL: рабочая модель балансировщика и контур интеграционной АИС.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38DB004-6A58-4A48-ADC8-0DFF5726BBCD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7856CEE-A2DB-47F2-9A21-DBE356BE2D5A}"/>
              </a:ext>
            </a:extLst>
          </p:cNvPr>
          <p:cNvSpPr>
            <a:spLocks noGrp="1"/>
          </p:cNvSpPr>
          <p:nvPr/>
        </p:nvSpPr>
        <p:spPr>
          <a:xfrm>
            <a:off x="11382375" y="65055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59B3AE7-D456-437F-AEC6-995CF519C929}"/>
              </a:ext>
            </a:extLst>
          </p:cNvPr>
          <p:cNvSpPr>
            <a:spLocks noGrp="1"/>
          </p:cNvSpPr>
          <p:nvPr/>
        </p:nvSpPr>
        <p:spPr>
          <a:xfrm>
            <a:off x="590550" y="2076450"/>
            <a:ext cx="6781800" cy="3676650"/>
          </a:xfrm>
          <a:prstGeom prst="roundRect">
            <a:avLst>
              <a:gd name="adj" fmla="val 5699"/>
            </a:avLst>
          </a:prstGeom>
          <a:solidFill>
            <a:srgbClr val="EAF0FA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7832747-6CA5-4BEC-96A8-32946E9C49C7}"/>
              </a:ext>
            </a:extLst>
          </p:cNvPr>
          <p:cNvSpPr>
            <a:spLocks noGrp="1"/>
          </p:cNvSpPr>
          <p:nvPr/>
        </p:nvSpPr>
        <p:spPr>
          <a:xfrm>
            <a:off x="838200" y="2305050"/>
            <a:ext cx="609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BALANCER  /  РЕШЕНИЕ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82566C2-9E04-4E27-BDE7-A281C5793795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2857500" cy="590550"/>
          </a:xfrm>
          <a:prstGeom prst="roundRect">
            <a:avLst>
              <a:gd name="adj" fmla="val 17742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EC4280A-5FA0-41E4-9E40-7668843EF30B}"/>
              </a:ext>
            </a:extLst>
          </p:cNvPr>
          <p:cNvSpPr>
            <a:spLocks noGrp="1"/>
          </p:cNvSpPr>
          <p:nvPr/>
        </p:nvSpPr>
        <p:spPr>
          <a:xfrm>
            <a:off x="971550" y="2867025"/>
            <a:ext cx="2628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D4B176E-B64B-4DFD-808E-30557D6C5BF8}"/>
              </a:ext>
            </a:extLst>
          </p:cNvPr>
          <p:cNvSpPr>
            <a:spLocks noGrp="1"/>
          </p:cNvSpPr>
          <p:nvPr/>
        </p:nvSpPr>
        <p:spPr>
          <a:xfrm>
            <a:off x="971550" y="3105150"/>
            <a:ext cx="2628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заявка · статус · parent_id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4C6711EC-7A9A-4416-A4F1-9F0D487EDF00}"/>
              </a:ext>
            </a:extLst>
          </p:cNvPr>
          <p:cNvSpPr>
            <a:spLocks noGrp="1"/>
          </p:cNvSpPr>
          <p:nvPr/>
        </p:nvSpPr>
        <p:spPr>
          <a:xfrm>
            <a:off x="3943350" y="2781300"/>
            <a:ext cx="2857500" cy="590550"/>
          </a:xfrm>
          <a:prstGeom prst="roundRect">
            <a:avLst>
              <a:gd name="adj" fmla="val 17742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00EF78C-319F-43FE-8447-F97B97718313}"/>
              </a:ext>
            </a:extLst>
          </p:cNvPr>
          <p:cNvSpPr>
            <a:spLocks noGrp="1"/>
          </p:cNvSpPr>
          <p:nvPr/>
        </p:nvSpPr>
        <p:spPr>
          <a:xfrm>
            <a:off x="4076700" y="2867025"/>
            <a:ext cx="2628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executors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52BF04C-BFCA-427A-BE65-267F231819F8}"/>
              </a:ext>
            </a:extLst>
          </p:cNvPr>
          <p:cNvSpPr>
            <a:spLocks noGrp="1"/>
          </p:cNvSpPr>
          <p:nvPr/>
        </p:nvSpPr>
        <p:spPr>
          <a:xfrm>
            <a:off x="4076700" y="3105150"/>
            <a:ext cx="2628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активность · capacity · вес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52F5D29-94A3-4D7B-8F8B-EA2DD138B7E6}"/>
              </a:ext>
            </a:extLst>
          </p:cNvPr>
          <p:cNvSpPr>
            <a:spLocks noGrp="1"/>
          </p:cNvSpPr>
          <p:nvPr/>
        </p:nvSpPr>
        <p:spPr>
          <a:xfrm>
            <a:off x="838200" y="3562350"/>
            <a:ext cx="2857500" cy="590550"/>
          </a:xfrm>
          <a:prstGeom prst="roundRect">
            <a:avLst>
              <a:gd name="adj" fmla="val 17742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19A3504-A447-47A7-A36B-9A5C5F2197B9}"/>
              </a:ext>
            </a:extLst>
          </p:cNvPr>
          <p:cNvSpPr>
            <a:spLocks noGrp="1"/>
          </p:cNvSpPr>
          <p:nvPr/>
        </p:nvSpPr>
        <p:spPr>
          <a:xfrm>
            <a:off x="971550" y="3648075"/>
            <a:ext cx="2628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3B4B3A4-68BC-43A1-A878-126007D0F6EC}"/>
              </a:ext>
            </a:extLst>
          </p:cNvPr>
          <p:cNvSpPr>
            <a:spLocks noGrp="1"/>
          </p:cNvSpPr>
          <p:nvPr/>
        </p:nvSpPr>
        <p:spPr>
          <a:xfrm>
            <a:off x="971550" y="3886200"/>
            <a:ext cx="2628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DSL · эффект · приоритет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92BCC80-BF7C-4F37-A2DF-A3768DB51C17}"/>
              </a:ext>
            </a:extLst>
          </p:cNvPr>
          <p:cNvSpPr>
            <a:spLocks noGrp="1"/>
          </p:cNvSpPr>
          <p:nvPr/>
        </p:nvSpPr>
        <p:spPr>
          <a:xfrm>
            <a:off x="3943350" y="3562350"/>
            <a:ext cx="2857500" cy="590550"/>
          </a:xfrm>
          <a:prstGeom prst="roundRect">
            <a:avLst>
              <a:gd name="adj" fmla="val 17742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B532637-4A6E-4EE8-BD33-E942BCCF8214}"/>
              </a:ext>
            </a:extLst>
          </p:cNvPr>
          <p:cNvSpPr>
            <a:spLocks noGrp="1"/>
          </p:cNvSpPr>
          <p:nvPr/>
        </p:nvSpPr>
        <p:spPr>
          <a:xfrm>
            <a:off x="4076700" y="3648075"/>
            <a:ext cx="2628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parameter_definitions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AA5A482-D914-4942-9B77-485DC2C20DCF}"/>
              </a:ext>
            </a:extLst>
          </p:cNvPr>
          <p:cNvSpPr>
            <a:spLocks noGrp="1"/>
          </p:cNvSpPr>
          <p:nvPr/>
        </p:nvSpPr>
        <p:spPr>
          <a:xfrm>
            <a:off x="4076700" y="3886200"/>
            <a:ext cx="2628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тип · сущность · словарь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8036ECD8-1559-4226-A4C2-58122BB46CDB}"/>
              </a:ext>
            </a:extLst>
          </p:cNvPr>
          <p:cNvSpPr>
            <a:spLocks noGrp="1"/>
          </p:cNvSpPr>
          <p:nvPr/>
        </p:nvSpPr>
        <p:spPr>
          <a:xfrm>
            <a:off x="838200" y="4343400"/>
            <a:ext cx="2857500" cy="590550"/>
          </a:xfrm>
          <a:prstGeom prst="roundRect">
            <a:avLst>
              <a:gd name="adj" fmla="val 17742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69B3495-97B0-485F-A10D-E11E51FCA78D}"/>
              </a:ext>
            </a:extLst>
          </p:cNvPr>
          <p:cNvSpPr>
            <a:spLocks noGrp="1"/>
          </p:cNvSpPr>
          <p:nvPr/>
        </p:nvSpPr>
        <p:spPr>
          <a:xfrm>
            <a:off x="971550" y="4429125"/>
            <a:ext cx="2628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outbox / stream_events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21DF629-38E8-4A37-85C6-5937E786297A}"/>
              </a:ext>
            </a:extLst>
          </p:cNvPr>
          <p:cNvSpPr>
            <a:spLocks noGrp="1"/>
          </p:cNvSpPr>
          <p:nvPr/>
        </p:nvSpPr>
        <p:spPr>
          <a:xfrm>
            <a:off x="971550" y="4667250"/>
            <a:ext cx="2628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доставка · очередь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4A71920E-F805-42EA-B71D-5ECED9739A98}"/>
              </a:ext>
            </a:extLst>
          </p:cNvPr>
          <p:cNvSpPr>
            <a:spLocks noGrp="1"/>
          </p:cNvSpPr>
          <p:nvPr/>
        </p:nvSpPr>
        <p:spPr>
          <a:xfrm>
            <a:off x="3943350" y="4343400"/>
            <a:ext cx="2857500" cy="590550"/>
          </a:xfrm>
          <a:prstGeom prst="roundRect">
            <a:avLst>
              <a:gd name="adj" fmla="val 17742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810E3FC-6CCE-411A-A9C8-67A9C113E517}"/>
              </a:ext>
            </a:extLst>
          </p:cNvPr>
          <p:cNvSpPr>
            <a:spLocks noGrp="1"/>
          </p:cNvSpPr>
          <p:nvPr/>
        </p:nvSpPr>
        <p:spPr>
          <a:xfrm>
            <a:off x="4076700" y="4429125"/>
            <a:ext cx="2628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assignment_log / decisions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4A075F2-4DD4-417D-8F27-4A2413702A65}"/>
              </a:ext>
            </a:extLst>
          </p:cNvPr>
          <p:cNvSpPr>
            <a:spLocks noGrp="1"/>
          </p:cNvSpPr>
          <p:nvPr/>
        </p:nvSpPr>
        <p:spPr>
          <a:xfrm>
            <a:off x="4076700" y="4667250"/>
            <a:ext cx="2628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аудит · причины · score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B8A2BD3-04D2-481C-82B4-27448A98002C}"/>
              </a:ext>
            </a:extLst>
          </p:cNvPr>
          <p:cNvSpPr>
            <a:spLocks noGrp="1"/>
          </p:cNvSpPr>
          <p:nvPr/>
        </p:nvSpPr>
        <p:spPr>
          <a:xfrm>
            <a:off x="7734300" y="2076450"/>
            <a:ext cx="3867150" cy="3676650"/>
          </a:xfrm>
          <a:prstGeom prst="roundRect">
            <a:avLst>
              <a:gd name="adj" fmla="val 5699"/>
            </a:avLst>
          </a:prstGeom>
          <a:solidFill>
            <a:srgbClr val="FFF0E7"/>
          </a:solidFill>
          <a:ln w="0">
            <a:noFill/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AFA903C-6118-40A2-B0EA-EBA5D0C846A8}"/>
              </a:ext>
            </a:extLst>
          </p:cNvPr>
          <p:cNvSpPr>
            <a:spLocks noGrp="1"/>
          </p:cNvSpPr>
          <p:nvPr/>
        </p:nvSpPr>
        <p:spPr>
          <a:xfrm>
            <a:off x="7981950" y="23050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B85B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5B13"/>
                </a:solidFill>
                <a:latin typeface="Arial"/>
                <a:ea typeface="Arial"/>
                <a:cs typeface="Arial"/>
              </a:rPr>
              <a:t>AIS  /  ИНТЕГРАЦИЯ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2BE17B96-C15F-40FD-88D0-FAE9CEE2C3CC}"/>
              </a:ext>
            </a:extLst>
          </p:cNvPr>
          <p:cNvSpPr>
            <a:spLocks noGrp="1"/>
          </p:cNvSpPr>
          <p:nvPr/>
        </p:nvSpPr>
        <p:spPr>
          <a:xfrm>
            <a:off x="7981950" y="2838450"/>
            <a:ext cx="3333750" cy="4762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961D69B-4999-4599-8C10-02DE6C8CFB16}"/>
              </a:ext>
            </a:extLst>
          </p:cNvPr>
          <p:cNvSpPr>
            <a:spLocks noGrp="1"/>
          </p:cNvSpPr>
          <p:nvPr/>
        </p:nvSpPr>
        <p:spPr>
          <a:xfrm>
            <a:off x="8134350" y="290512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B85B1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5B13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CA04A1F-7291-4807-9B34-5D609608C0C5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304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учётные записи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367B8016-C718-46FD-B387-B1C2DF280045}"/>
              </a:ext>
            </a:extLst>
          </p:cNvPr>
          <p:cNvSpPr>
            <a:spLocks noGrp="1"/>
          </p:cNvSpPr>
          <p:nvPr/>
        </p:nvSpPr>
        <p:spPr>
          <a:xfrm>
            <a:off x="7981950" y="3467100"/>
            <a:ext cx="3333750" cy="4762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FFE7C78-4EF5-4B54-9348-662D8D775455}"/>
              </a:ext>
            </a:extLst>
          </p:cNvPr>
          <p:cNvSpPr>
            <a:spLocks noGrp="1"/>
          </p:cNvSpPr>
          <p:nvPr/>
        </p:nvSpPr>
        <p:spPr>
          <a:xfrm>
            <a:off x="8134350" y="353377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B85B1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5B13"/>
                </a:solidFill>
                <a:latin typeface="Arial"/>
                <a:ea typeface="Arial"/>
                <a:cs typeface="Arial"/>
              </a:rPr>
              <a:t>user_settings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8B6228B2-D579-409F-B74F-72F209B26C0A}"/>
              </a:ext>
            </a:extLst>
          </p:cNvPr>
          <p:cNvSpPr>
            <a:spLocks noGrp="1"/>
          </p:cNvSpPr>
          <p:nvPr/>
        </p:nvSpPr>
        <p:spPr>
          <a:xfrm>
            <a:off x="8134350" y="3733800"/>
            <a:ext cx="304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параметры исполнителя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F4819C6F-B3C9-4E34-A7B7-3688BD3ACEAB}"/>
              </a:ext>
            </a:extLst>
          </p:cNvPr>
          <p:cNvSpPr>
            <a:spLocks noGrp="1"/>
          </p:cNvSpPr>
          <p:nvPr/>
        </p:nvSpPr>
        <p:spPr>
          <a:xfrm>
            <a:off x="7981950" y="4095750"/>
            <a:ext cx="3333750" cy="4762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D416C96-191F-46A9-AA3E-077BFEC85957}"/>
              </a:ext>
            </a:extLst>
          </p:cNvPr>
          <p:cNvSpPr>
            <a:spLocks noGrp="1"/>
          </p:cNvSpPr>
          <p:nvPr/>
        </p:nvSpPr>
        <p:spPr>
          <a:xfrm>
            <a:off x="8134350" y="416242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B85B1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5B13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B393AE5B-C2D6-4866-BB05-7F069A7D58E1}"/>
              </a:ext>
            </a:extLst>
          </p:cNvPr>
          <p:cNvSpPr>
            <a:spLocks noGrp="1"/>
          </p:cNvSpPr>
          <p:nvPr/>
        </p:nvSpPr>
        <p:spPr>
          <a:xfrm>
            <a:off x="8134350" y="4362450"/>
            <a:ext cx="304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входные заявки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4A3D1A43-2132-4427-80D7-E5E28D3153A3}"/>
              </a:ext>
            </a:extLst>
          </p:cNvPr>
          <p:cNvSpPr>
            <a:spLocks noGrp="1"/>
          </p:cNvSpPr>
          <p:nvPr/>
        </p:nvSpPr>
        <p:spPr>
          <a:xfrm>
            <a:off x="7981950" y="4724400"/>
            <a:ext cx="3333750" cy="47625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9D882AD-4A4A-4C88-97A7-94A662BB42CD}"/>
              </a:ext>
            </a:extLst>
          </p:cNvPr>
          <p:cNvSpPr>
            <a:spLocks noGrp="1"/>
          </p:cNvSpPr>
          <p:nvPr/>
        </p:nvSpPr>
        <p:spPr>
          <a:xfrm>
            <a:off x="8134350" y="4791075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B85B1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5B13"/>
                </a:solidFill>
                <a:latin typeface="Arial"/>
                <a:ea typeface="Arial"/>
                <a:cs typeface="Arial"/>
              </a:rPr>
              <a:t>assignments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95A066E3-4E6F-429C-8B7C-54904CC70852}"/>
              </a:ext>
            </a:extLst>
          </p:cNvPr>
          <p:cNvSpPr>
            <a:spLocks noGrp="1"/>
          </p:cNvSpPr>
          <p:nvPr/>
        </p:nvSpPr>
        <p:spPr>
          <a:xfrm>
            <a:off x="8134350" y="4991100"/>
            <a:ext cx="304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назначения и ответы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CD6FAEDB-C6A2-46E6-B641-642916555E7D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323850"/>
          </a:xfrm>
          <a:prstGeom prst="roundRect">
            <a:avLst>
              <a:gd name="adj" fmla="val 35294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8EC78E75-53AD-43B5-A826-3BF5F1359A77}"/>
              </a:ext>
            </a:extLst>
          </p:cNvPr>
          <p:cNvSpPr>
            <a:spLocks noGrp="1"/>
          </p:cNvSpPr>
          <p:nvPr/>
        </p:nvSpPr>
        <p:spPr>
          <a:xfrm>
            <a:off x="723900" y="5991225"/>
            <a:ext cx="107442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Документы: BPMN процесса · sequence взаимодействий · ERD обеих схем · проблемы и альтернативы</a:t>
            </a:r>
          </a:p>
        </p:txBody>
      </p:sp>
    </p:spTree>
    <p:extLst>
      <p:ext uri="{BB962C8B-B14F-4D97-AF65-F5344CB8AC3E}">
        <p14:creationId xmlns:p14="http://schemas.microsoft.com/office/powerpoint/2010/main" val="1733400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857C2DFE-ACFE-4815-92B0-BD914F7DB88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460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460C8"/>
                </a:solidFill>
                <a:latin typeface="Arial"/>
                <a:ea typeface="Arial"/>
                <a:cs typeface="Arial"/>
              </a:rPr>
              <a:t>ГОТОВНОСТЬ И ГРАНИЦЫ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C25EB7-8D99-4A3A-8081-3FC0AD30A36B}"/>
              </a:ext>
            </a:extLst>
          </p:cNvPr>
          <p:cNvSpPr>
            <a:spLocks noGrp="1"/>
          </p:cNvSpPr>
          <p:nvPr/>
        </p:nvSpPr>
        <p:spPr>
          <a:xfrm>
            <a:off x="11115675" y="371475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A365BF8-60B9-45FB-9ACF-D1ABCF4FA10C}"/>
              </a:ext>
            </a:extLst>
          </p:cNvPr>
          <p:cNvSpPr>
            <a:spLocks noGrp="1"/>
          </p:cNvSpPr>
          <p:nvPr/>
        </p:nvSpPr>
        <p:spPr>
          <a:xfrm>
            <a:off x="11515725" y="371475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EE5C5A2-F37F-4D41-B3FA-7526B0D0616E}"/>
              </a:ext>
            </a:extLst>
          </p:cNvPr>
          <p:cNvSpPr>
            <a:spLocks noGrp="1"/>
          </p:cNvSpPr>
          <p:nvPr/>
        </p:nvSpPr>
        <p:spPr>
          <a:xfrm>
            <a:off x="11772900" y="371475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474027-51A7-490D-A4AC-3FC0E47B7C94}"/>
              </a:ext>
            </a:extLst>
          </p:cNvPr>
          <p:cNvSpPr>
            <a:spLocks noGrp="1"/>
          </p:cNvSpPr>
          <p:nvPr/>
        </p:nvSpPr>
        <p:spPr>
          <a:xfrm>
            <a:off x="590550" y="666750"/>
            <a:ext cx="10382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1922"/>
                </a:solidFill>
                <a:latin typeface="Arial"/>
                <a:ea typeface="Arial"/>
                <a:cs typeface="Arial"/>
              </a:rPr>
              <a:t>Функциональный контур готов к демонстрации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CE115B1-760E-4FEB-A2AF-75316883115E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Целевые показатели кейса нужно подтверждать отдельным acceptance-прогоном.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DC851FF-056C-4A89-BE62-78BEB9FD01E4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4AC945F-328A-4347-9A65-939EA4777D19}"/>
              </a:ext>
            </a:extLst>
          </p:cNvPr>
          <p:cNvSpPr>
            <a:spLocks noGrp="1"/>
          </p:cNvSpPr>
          <p:nvPr/>
        </p:nvSpPr>
        <p:spPr>
          <a:xfrm>
            <a:off x="11382375" y="6505575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6DD0090-C268-45E3-BDA6-17C8131B43F9}"/>
              </a:ext>
            </a:extLst>
          </p:cNvPr>
          <p:cNvSpPr>
            <a:spLocks noGrp="1"/>
          </p:cNvSpPr>
          <p:nvPr/>
        </p:nvSpPr>
        <p:spPr>
          <a:xfrm>
            <a:off x="590550" y="2133600"/>
            <a:ext cx="5295900" cy="3333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F8B9D8-02A2-472A-9667-9E22BE9D1BC6}"/>
              </a:ext>
            </a:extLst>
          </p:cNvPr>
          <p:cNvSpPr>
            <a:spLocks noGrp="1"/>
          </p:cNvSpPr>
          <p:nvPr/>
        </p:nvSpPr>
        <p:spPr>
          <a:xfrm>
            <a:off x="876300" y="2371725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02D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D63"/>
                </a:solidFill>
                <a:latin typeface="Arial"/>
                <a:ea typeface="Arial"/>
                <a:cs typeface="Arial"/>
              </a:rPr>
              <a:t>Проверено функционально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780F7E00-82D8-4A51-9437-F81408329783}"/>
              </a:ext>
            </a:extLst>
          </p:cNvPr>
          <p:cNvSpPr>
            <a:spLocks noGrp="1"/>
          </p:cNvSpPr>
          <p:nvPr/>
        </p:nvSpPr>
        <p:spPr>
          <a:xfrm>
            <a:off x="866775" y="2857500"/>
            <a:ext cx="190500" cy="190500"/>
          </a:xfrm>
          <a:prstGeom prst="ellipse">
            <a:avLst/>
          </a:prstGeom>
          <a:solidFill>
            <a:srgbClr val="E7F5EF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CB29A5-34CF-446F-9BDD-86F0C9CD9FBA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682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826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55033DB-2881-4C11-8D45-EBF5A3C98E95}"/>
              </a:ext>
            </a:extLst>
          </p:cNvPr>
          <p:cNvSpPr>
            <a:spLocks noGrp="1"/>
          </p:cNvSpPr>
          <p:nvPr/>
        </p:nvSpPr>
        <p:spPr>
          <a:xfrm>
            <a:off x="1162050" y="2867025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Docker Compose: сервисы стартуют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6BD83E1F-6386-4175-88A8-33D20D98B875}"/>
              </a:ext>
            </a:extLst>
          </p:cNvPr>
          <p:cNvSpPr>
            <a:spLocks noGrp="1"/>
          </p:cNvSpPr>
          <p:nvPr/>
        </p:nvSpPr>
        <p:spPr>
          <a:xfrm>
            <a:off x="866775" y="3257550"/>
            <a:ext cx="190500" cy="190500"/>
          </a:xfrm>
          <a:prstGeom prst="ellipse">
            <a:avLst/>
          </a:prstGeom>
          <a:solidFill>
            <a:srgbClr val="E7F5EF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C037AA6-49B2-4101-86FD-B4F91446D1D1}"/>
              </a:ext>
            </a:extLst>
          </p:cNvPr>
          <p:cNvSpPr>
            <a:spLocks noGrp="1"/>
          </p:cNvSpPr>
          <p:nvPr/>
        </p:nvSpPr>
        <p:spPr>
          <a:xfrm>
            <a:off x="895350" y="329565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682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826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607BD1C-D561-46DF-9A47-2F5938E5D198}"/>
              </a:ext>
            </a:extLst>
          </p:cNvPr>
          <p:cNvSpPr>
            <a:spLocks noGrp="1"/>
          </p:cNvSpPr>
          <p:nvPr/>
        </p:nvSpPr>
        <p:spPr>
          <a:xfrm>
            <a:off x="1162050" y="3267075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UI: заявки, Explain и список исполнителей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7FC4CC37-F4BB-43C7-AB4D-886D3AD174D1}"/>
              </a:ext>
            </a:extLst>
          </p:cNvPr>
          <p:cNvSpPr>
            <a:spLocks noGrp="1"/>
          </p:cNvSpPr>
          <p:nvPr/>
        </p:nvSpPr>
        <p:spPr>
          <a:xfrm>
            <a:off x="866775" y="3657600"/>
            <a:ext cx="190500" cy="190500"/>
          </a:xfrm>
          <a:prstGeom prst="ellipse">
            <a:avLst/>
          </a:prstGeom>
          <a:solidFill>
            <a:srgbClr val="E7F5EF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38A39CC-C881-4D2A-8A5B-0B917E7AD51B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682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826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5E618DE-A3B1-46A4-BEE6-1A121A624C2E}"/>
              </a:ext>
            </a:extLst>
          </p:cNvPr>
          <p:cNvSpPr>
            <a:spLocks noGrp="1"/>
          </p:cNvSpPr>
          <p:nvPr/>
        </p:nvSpPr>
        <p:spPr>
          <a:xfrm>
            <a:off x="1162050" y="3667125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Правила: validate и Dry-run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08014F8A-95F3-4687-BDA7-014AB4BC0071}"/>
              </a:ext>
            </a:extLst>
          </p:cNvPr>
          <p:cNvSpPr>
            <a:spLocks noGrp="1"/>
          </p:cNvSpPr>
          <p:nvPr/>
        </p:nvSpPr>
        <p:spPr>
          <a:xfrm>
            <a:off x="866775" y="4057650"/>
            <a:ext cx="190500" cy="190500"/>
          </a:xfrm>
          <a:prstGeom prst="ellipse">
            <a:avLst/>
          </a:prstGeom>
          <a:solidFill>
            <a:srgbClr val="E7F5EF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D9C3C2E-E654-4C0C-8FD4-13DB55750E72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682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826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201B3A7-CCFD-4C46-8889-980DCAD4354F}"/>
              </a:ext>
            </a:extLst>
          </p:cNvPr>
          <p:cNvSpPr>
            <a:spLocks noGrp="1"/>
          </p:cNvSpPr>
          <p:nvPr/>
        </p:nvSpPr>
        <p:spPr>
          <a:xfrm>
            <a:off x="1162050" y="4067175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Параметры, словари и стратегия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79049275-1BB9-40AC-BDF2-D41DA26FF6AB}"/>
              </a:ext>
            </a:extLst>
          </p:cNvPr>
          <p:cNvSpPr>
            <a:spLocks noGrp="1"/>
          </p:cNvSpPr>
          <p:nvPr/>
        </p:nvSpPr>
        <p:spPr>
          <a:xfrm>
            <a:off x="866775" y="4457700"/>
            <a:ext cx="190500" cy="190500"/>
          </a:xfrm>
          <a:prstGeom prst="ellipse">
            <a:avLst/>
          </a:prstGeom>
          <a:solidFill>
            <a:srgbClr val="E7F5EF"/>
          </a:solidFill>
          <a:ln w="0">
            <a:noFill/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D17D811-0DA6-41BC-BCC7-AB72E8C399BA}"/>
              </a:ext>
            </a:extLst>
          </p:cNvPr>
          <p:cNvSpPr>
            <a:spLocks noGrp="1"/>
          </p:cNvSpPr>
          <p:nvPr/>
        </p:nvSpPr>
        <p:spPr>
          <a:xfrm>
            <a:off x="895350" y="449580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682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826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A5074AE-BF94-48AF-814D-9123872D2D41}"/>
              </a:ext>
            </a:extLst>
          </p:cNvPr>
          <p:cNvSpPr>
            <a:spLocks noGrp="1"/>
          </p:cNvSpPr>
          <p:nvPr/>
        </p:nvSpPr>
        <p:spPr>
          <a:xfrm>
            <a:off x="1162050" y="4467225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Симулятор: запуск и остановка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F25065B8-BBFF-4009-BC63-BF908B31D769}"/>
              </a:ext>
            </a:extLst>
          </p:cNvPr>
          <p:cNvSpPr>
            <a:spLocks noGrp="1"/>
          </p:cNvSpPr>
          <p:nvPr/>
        </p:nvSpPr>
        <p:spPr>
          <a:xfrm>
            <a:off x="866775" y="4857750"/>
            <a:ext cx="190500" cy="190500"/>
          </a:xfrm>
          <a:prstGeom prst="ellipse">
            <a:avLst/>
          </a:prstGeom>
          <a:solidFill>
            <a:srgbClr val="E7F5EF"/>
          </a:solidFill>
          <a:ln w="0">
            <a:noFill/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0A55132-49ED-428D-936E-91453DFCA068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152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682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826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4CEB2F3-2F33-44E1-BBDE-06100FE7E6BB}"/>
              </a:ext>
            </a:extLst>
          </p:cNvPr>
          <p:cNvSpPr>
            <a:spLocks noGrp="1"/>
          </p:cNvSpPr>
          <p:nvPr/>
        </p:nvSpPr>
        <p:spPr>
          <a:xfrm>
            <a:off x="1162050" y="4867275"/>
            <a:ext cx="434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Excel: 5 листов; Audit / DLQ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18C7CF64-4261-4DE2-BE78-3B632554C34A}"/>
              </a:ext>
            </a:extLst>
          </p:cNvPr>
          <p:cNvSpPr>
            <a:spLocks noGrp="1"/>
          </p:cNvSpPr>
          <p:nvPr/>
        </p:nvSpPr>
        <p:spPr>
          <a:xfrm>
            <a:off x="6286500" y="2133600"/>
            <a:ext cx="5314950" cy="3333750"/>
          </a:xfrm>
          <a:prstGeom prst="roundRect">
            <a:avLst>
              <a:gd name="adj" fmla="val 5714"/>
            </a:avLst>
          </a:prstGeom>
          <a:solidFill>
            <a:srgbClr val="FFF0E4"/>
          </a:solidFill>
          <a:ln w="9525">
            <a:solidFill>
              <a:srgbClr val="F0D6C1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A7A03EF-076B-4B99-A638-D4BD726EE0B5}"/>
              </a:ext>
            </a:extLst>
          </p:cNvPr>
          <p:cNvSpPr>
            <a:spLocks noGrp="1"/>
          </p:cNvSpPr>
          <p:nvPr/>
        </p:nvSpPr>
        <p:spPr>
          <a:xfrm>
            <a:off x="6572250" y="2371725"/>
            <a:ext cx="4743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B85B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B13"/>
                </a:solidFill>
                <a:latin typeface="Arial"/>
                <a:ea typeface="Arial"/>
                <a:cs typeface="Arial"/>
              </a:rPr>
              <a:t>Что ещё измерить на чистом стенде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4BD32F5-527C-4368-90F7-3A9184CC7604}"/>
              </a:ext>
            </a:extLst>
          </p:cNvPr>
          <p:cNvSpPr>
            <a:spLocks noGrp="1"/>
          </p:cNvSpPr>
          <p:nvPr/>
        </p:nvSpPr>
        <p:spPr>
          <a:xfrm>
            <a:off x="6572250" y="296227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6D8D021-56AE-4FAC-A352-289FA2170DDF}"/>
              </a:ext>
            </a:extLst>
          </p:cNvPr>
          <p:cNvSpPr>
            <a:spLocks noGrp="1"/>
          </p:cNvSpPr>
          <p:nvPr/>
        </p:nvSpPr>
        <p:spPr>
          <a:xfrm>
            <a:off x="6943725" y="2962275"/>
            <a:ext cx="4276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30 минут при 4 000 заявок/ч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43EDA5B-8A42-4B96-8D09-977ACC6806E8}"/>
              </a:ext>
            </a:extLst>
          </p:cNvPr>
          <p:cNvSpPr>
            <a:spLocks noGrp="1"/>
          </p:cNvSpPr>
          <p:nvPr/>
        </p:nvSpPr>
        <p:spPr>
          <a:xfrm>
            <a:off x="6572250" y="34290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D40F8E2-61DB-492B-A45F-C7C6C3D5F642}"/>
              </a:ext>
            </a:extLst>
          </p:cNvPr>
          <p:cNvSpPr>
            <a:spLocks noGrp="1"/>
          </p:cNvSpPr>
          <p:nvPr/>
        </p:nvSpPr>
        <p:spPr>
          <a:xfrm>
            <a:off x="6943725" y="3429000"/>
            <a:ext cx="4276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Fairness ±1–2% по допуск-пулам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FEA6E77-5611-4BDA-BC58-C9B400E33BBD}"/>
              </a:ext>
            </a:extLst>
          </p:cNvPr>
          <p:cNvSpPr>
            <a:spLocks noGrp="1"/>
          </p:cNvSpPr>
          <p:nvPr/>
        </p:nvSpPr>
        <p:spPr>
          <a:xfrm>
            <a:off x="6572250" y="389572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AEA28E4-1534-4AD8-875C-1757F4AEF276}"/>
              </a:ext>
            </a:extLst>
          </p:cNvPr>
          <p:cNvSpPr>
            <a:spLocks noGrp="1"/>
          </p:cNvSpPr>
          <p:nvPr/>
        </p:nvSpPr>
        <p:spPr>
          <a:xfrm>
            <a:off x="6943725" y="3895725"/>
            <a:ext cx="4276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p50 / p95 / p99 и время drain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EF2A299C-8B8A-4004-AFF8-EB32C5CD4AF5}"/>
              </a:ext>
            </a:extLst>
          </p:cNvPr>
          <p:cNvSpPr>
            <a:spLocks noGrp="1"/>
          </p:cNvSpPr>
          <p:nvPr/>
        </p:nvSpPr>
        <p:spPr>
          <a:xfrm>
            <a:off x="6572250" y="43624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71F6FF0E-BBE4-4606-8FD6-20C7A90E3EA1}"/>
              </a:ext>
            </a:extLst>
          </p:cNvPr>
          <p:cNvSpPr>
            <a:spLocks noGrp="1"/>
          </p:cNvSpPr>
          <p:nvPr/>
        </p:nvSpPr>
        <p:spPr>
          <a:xfrm>
            <a:off x="6943725" y="4362450"/>
            <a:ext cx="4276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1922"/>
                </a:solidFill>
                <a:latin typeface="Arial"/>
                <a:ea typeface="Arial"/>
                <a:cs typeface="Arial"/>
              </a:rPr>
              <a:t>Инварианты лимитов после нагрузки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C965A39-AE66-4E11-8707-535493C5E3F5}"/>
              </a:ext>
            </a:extLst>
          </p:cNvPr>
          <p:cNvSpPr>
            <a:spLocks noGrp="1"/>
          </p:cNvSpPr>
          <p:nvPr/>
        </p:nvSpPr>
        <p:spPr>
          <a:xfrm>
            <a:off x="6572250" y="482917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EE65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651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380314B7-F30B-497B-B418-724DDB2B09EC}"/>
              </a:ext>
            </a:extLst>
          </p:cNvPr>
          <p:cNvSpPr>
            <a:spLocks noGrp="1"/>
          </p:cNvSpPr>
          <p:nvPr/>
        </p:nvSpPr>
        <p:spPr>
          <a:xfrm>
            <a:off x="6943725" y="4829175"/>
            <a:ext cx="42767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41922"/>
                </a:solidFill>
                <a:latin typeface="Arial"/>
                <a:ea typeface="Arial"/>
                <a:cs typeface="Arial"/>
              </a:defRPr>
            </a:pPr>
            <a:r>
              <a:rPr sz="1125" b="0" dirty="0" err="1">
                <a:solidFill>
                  <a:srgbClr val="141922"/>
                </a:solidFill>
                <a:latin typeface="Arial"/>
                <a:ea typeface="Arial"/>
                <a:cs typeface="Arial"/>
              </a:rPr>
              <a:t>Отдельная</a:t>
            </a:r>
            <a:r>
              <a:rPr sz="1125" b="0" dirty="0">
                <a:solidFill>
                  <a:srgbClr val="141922"/>
                </a:solidFill>
                <a:latin typeface="Arial"/>
                <a:ea typeface="Arial"/>
                <a:cs typeface="Arial"/>
              </a:rPr>
              <a:t> aggregate-</a:t>
            </a:r>
            <a:r>
              <a:rPr sz="1125" b="0" dirty="0" err="1">
                <a:solidFill>
                  <a:srgbClr val="141922"/>
                </a:solidFill>
                <a:latin typeface="Arial"/>
                <a:ea typeface="Arial"/>
                <a:cs typeface="Arial"/>
              </a:rPr>
              <a:t>таблица</a:t>
            </a:r>
            <a:r>
              <a:rPr sz="1125" b="0" dirty="0">
                <a:solidFill>
                  <a:srgbClr val="141922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38BE756B-79BA-4626-85BF-52BF8423AEFD}"/>
              </a:ext>
            </a:extLst>
          </p:cNvPr>
          <p:cNvSpPr>
            <a:spLocks noGrp="1"/>
          </p:cNvSpPr>
          <p:nvPr/>
        </p:nvSpPr>
        <p:spPr>
          <a:xfrm>
            <a:off x="590550" y="5791200"/>
            <a:ext cx="11010900" cy="333375"/>
          </a:xfrm>
          <a:prstGeom prst="roundRect">
            <a:avLst>
              <a:gd name="adj" fmla="val 37143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2C12B0CD-86E2-42A0-8DBC-EFDC78C10BBB}"/>
              </a:ext>
            </a:extLst>
          </p:cNvPr>
          <p:cNvSpPr>
            <a:spLocks noGrp="1"/>
          </p:cNvSpPr>
          <p:nvPr/>
        </p:nvSpPr>
        <p:spPr>
          <a:xfrm>
            <a:off x="781050" y="587692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Отчёт фиксирует 32 backend-теста, ruff/mypy и production build; длительный acceptance нагрузочный профиль не запускался.</a:t>
            </a:r>
          </a:p>
        </p:txBody>
      </p:sp>
    </p:spTree>
    <p:extLst>
      <p:ext uri="{BB962C8B-B14F-4D97-AF65-F5344CB8AC3E}">
        <p14:creationId xmlns:p14="http://schemas.microsoft.com/office/powerpoint/2010/main" val="1084197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6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56607D4B-6AAE-485B-B697-B095A9052F20}"/>
              </a:ext>
            </a:extLst>
          </p:cNvPr>
          <p:cNvSpPr>
            <a:spLocks noGrp="1"/>
          </p:cNvSpPr>
          <p:nvPr/>
        </p:nvSpPr>
        <p:spPr>
          <a:xfrm>
            <a:off x="8143875" y="228600"/>
            <a:ext cx="3714750" cy="5191125"/>
          </a:xfrm>
          <a:prstGeom prst="ellipse">
            <a:avLst/>
          </a:prstGeom>
          <a:solidFill>
            <a:srgbClr val="F58137"/>
          </a:solidFill>
          <a:ln w="0">
            <a:noFill/>
            <a:prstDash val="solid"/>
          </a:ln>
        </p:spPr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AE925871-2FF8-4A12-8537-1267592961AD}"/>
              </a:ext>
            </a:extLst>
          </p:cNvPr>
          <p:cNvSpPr>
            <a:spLocks noGrp="1"/>
          </p:cNvSpPr>
          <p:nvPr/>
        </p:nvSpPr>
        <p:spPr>
          <a:xfrm>
            <a:off x="9553575" y="2476500"/>
            <a:ext cx="2381250" cy="2381250"/>
          </a:xfrm>
          <a:prstGeom prst="ellipse">
            <a:avLst/>
          </a:prstGeom>
          <a:solidFill>
            <a:srgbClr val="173F85"/>
          </a:solidFill>
          <a:ln w="0">
            <a:noFill/>
            <a:prstDash val="solid"/>
          </a:ln>
        </p:spPr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65B3550D-8398-454A-9357-0FE77319A811}"/>
              </a:ext>
            </a:extLst>
          </p:cNvPr>
          <p:cNvSpPr>
            <a:spLocks noGrp="1"/>
          </p:cNvSpPr>
          <p:nvPr/>
        </p:nvSpPr>
        <p:spPr>
          <a:xfrm>
            <a:off x="7524750" y="4143375"/>
            <a:ext cx="2857500" cy="2476500"/>
          </a:xfrm>
          <a:prstGeom prst="ellipse">
            <a:avLst/>
          </a:prstGeom>
          <a:solidFill>
            <a:srgbClr val="F9A168"/>
          </a:solidFill>
          <a:ln w="0">
            <a:noFill/>
            <a:prstDash val="solid"/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6D6E5EC-39EC-45C4-A6C0-3DBA351D1DA8}"/>
              </a:ext>
            </a:extLst>
          </p:cNvPr>
          <p:cNvSpPr>
            <a:spLocks noGrp="1"/>
          </p:cNvSpPr>
          <p:nvPr/>
        </p:nvSpPr>
        <p:spPr>
          <a:xfrm>
            <a:off x="11010900" y="381000"/>
            <a:ext cx="361950" cy="95250"/>
          </a:xfrm>
          <a:prstGeom prst="roundRect">
            <a:avLst>
              <a:gd name="adj" fmla="val 50000"/>
            </a:avLst>
          </a:prstGeom>
          <a:solidFill>
            <a:srgbClr val="2460C8"/>
          </a:solidFill>
          <a:ln w="0">
            <a:noFill/>
            <a:prstDash val="solid"/>
          </a:ln>
        </p:spPr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A29EC81-F86D-46C4-912E-5A0C2C4E34B2}"/>
              </a:ext>
            </a:extLst>
          </p:cNvPr>
          <p:cNvSpPr>
            <a:spLocks noGrp="1"/>
          </p:cNvSpPr>
          <p:nvPr/>
        </p:nvSpPr>
        <p:spPr>
          <a:xfrm>
            <a:off x="11410950" y="381000"/>
            <a:ext cx="219075" cy="95250"/>
          </a:xfrm>
          <a:prstGeom prst="roundRect">
            <a:avLst>
              <a:gd name="adj" fmla="val 50000"/>
            </a:avLst>
          </a:prstGeom>
          <a:solidFill>
            <a:srgbClr val="EE651B"/>
          </a:solidFill>
          <a:ln w="0">
            <a:noFill/>
            <a:prstDash val="solid"/>
          </a:ln>
        </p:spPr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8048809-330F-4427-B4B1-B9AF750B0786}"/>
              </a:ext>
            </a:extLst>
          </p:cNvPr>
          <p:cNvSpPr>
            <a:spLocks noGrp="1"/>
          </p:cNvSpPr>
          <p:nvPr/>
        </p:nvSpPr>
        <p:spPr>
          <a:xfrm>
            <a:off x="11668125" y="381000"/>
            <a:ext cx="133350" cy="95250"/>
          </a:xfrm>
          <a:prstGeom prst="roundRect">
            <a:avLst>
              <a:gd name="adj" fmla="val 50000"/>
            </a:avLst>
          </a:prstGeom>
          <a:solidFill>
            <a:srgbClr val="102D63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5A9FA9E-B3A0-4599-A3A1-F5EB3441B91E}"/>
              </a:ext>
            </a:extLst>
          </p:cNvPr>
          <p:cNvSpPr>
            <a:spLocks noGrp="1"/>
          </p:cNvSpPr>
          <p:nvPr/>
        </p:nvSpPr>
        <p:spPr>
          <a:xfrm>
            <a:off x="704850" y="1143000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PROGCHILLERS  ·  EXECUTOR BALANCER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D7BA6CE-FEAA-4816-92EC-2DE452CC4388}"/>
              </a:ext>
            </a:extLst>
          </p:cNvPr>
          <p:cNvSpPr>
            <a:spLocks noGrp="1"/>
          </p:cNvSpPr>
          <p:nvPr/>
        </p:nvSpPr>
        <p:spPr>
          <a:xfrm>
            <a:off x="714375" y="2266949"/>
            <a:ext cx="7334250" cy="1114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7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 за</a:t>
            </a:r>
          </a:p>
          <a:p>
            <a:pPr algn="l">
              <a:lnSpc>
                <a:spcPct val="97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внимание</a:t>
            </a:r>
            <a:endParaRPr sz="3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0A061CF-D6CD-4A2B-B5CC-0DB557AA3C3F}"/>
              </a:ext>
            </a:extLst>
          </p:cNvPr>
          <p:cNvSpPr>
            <a:spLocks noGrp="1"/>
          </p:cNvSpPr>
          <p:nvPr/>
        </p:nvSpPr>
        <p:spPr>
          <a:xfrm>
            <a:off x="723900" y="3752850"/>
            <a:ext cx="6000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FFF3E9"/>
                </a:solidFill>
                <a:latin typeface="Arial"/>
                <a:ea typeface="Arial"/>
                <a:cs typeface="Arial"/>
              </a:defRPr>
            </a:pPr>
            <a:r>
              <a:rPr lang="ru-RU" sz="1575" b="0" dirty="0">
                <a:solidFill>
                  <a:srgbClr val="FFF3E9"/>
                </a:solidFill>
                <a:latin typeface="Arial"/>
                <a:ea typeface="Arial"/>
                <a:cs typeface="Arial"/>
              </a:rPr>
              <a:t>Вопросы</a:t>
            </a:r>
            <a:endParaRPr sz="1575" b="0" dirty="0">
              <a:solidFill>
                <a:srgbClr val="FFF3E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0512AF3-A118-476A-AA18-4CEADCE77312}"/>
              </a:ext>
            </a:extLst>
          </p:cNvPr>
          <p:cNvSpPr>
            <a:spLocks noGrp="1"/>
          </p:cNvSpPr>
          <p:nvPr/>
        </p:nvSpPr>
        <p:spPr>
          <a:xfrm>
            <a:off x="714375" y="5067300"/>
            <a:ext cx="3714750" cy="9525"/>
          </a:xfrm>
          <a:prstGeom prst="rect">
            <a:avLst/>
          </a:prstGeom>
          <a:solidFill>
            <a:srgbClr val="FFFFFF">
              <a:alpha val="60000"/>
            </a:srgbClr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EAA7F06-5996-4A4C-8C7E-0B02DB07D177}"/>
              </a:ext>
            </a:extLst>
          </p:cNvPr>
          <p:cNvSpPr>
            <a:spLocks noGrp="1"/>
          </p:cNvSpPr>
          <p:nvPr/>
        </p:nvSpPr>
        <p:spPr>
          <a:xfrm>
            <a:off x="11382375" y="629602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92870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</Words>
  <Application>Microsoft Office PowerPoint</Application>
  <DocSecurity>0</DocSecurity>
  <PresentationFormat>Широкоэкранный</PresentationFormat>
  <Paragraphs>262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Тимур W</cp:lastModifiedBy>
  <cp:revision>1</cp:revision>
  <dcterms:created xsi:type="dcterms:W3CDTF">2026-09-29T15:20:04Z</dcterms:created>
  <dcterms:modified xsi:type="dcterms:W3CDTF">2026-09-29T15:28:15Z</dcterms:modified>
</cp:coreProperties>
</file>